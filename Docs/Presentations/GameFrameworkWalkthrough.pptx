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30 seconds. This is a developer integration walkthrough for team"/>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30 seconds. This is a developer integration walkthrough for teammates who can already import and run a scene. The goal is to show where code belongs and how components become active. The actual Unreal custom export and game factory are deferred until the school environment is available; we will flag that boundary clearly.</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Docs/GameFrameworkWalkthroughPlan.md</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Source/Application/Game/Game.cpp</a:t>
            </a:r>
            <a:endParaRPr lang="en-US" sz="135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Show the running Blockout scene and the orientation "/>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Show the running Blockout scene and the orientation gizmo first. Locate it before the session, rather than searching during the presentation. The programmer confirmed rotation on the gizmo and previously confirmed that Cube2 rotation and F4 reload did not crash. The manual demo is implemented; no Unreal custom component is responsible for this attachment yet. If the app is unavailable, use a runtime capture made at school, not an invented screenshot.</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Bin/Settings/ApplicationSettings.json</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Content/ExportedScenes/lvl_blockout/Lvl_Blockout_Level.json</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Docs/GameFrameworkWalkthroughPlan.md</a:t>
            </a:r>
            <a:endParaRPr lang="en-US" sz="135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Open the source tree. SpinComponent is beside Game.c"/>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Open the source tree. SpinComponent is beside Game.cpp today; feature subfolders are an optional organization choice, not an existing mandatory convention. Independent algorithms can also live in game feature folders without inheriting Component. Premake includes game headers and C++ files recursively, but an already generated Visual Studio project must be regenerated or explicitly updated. Leave engine lifecycle and window/render-loop control in GameApplication.</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Source/Application/Game/premake5.lua</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Source/Application/Game/GameApplication.cpp</a:t>
            </a:r>
            <a:endParaRPr lang="en-US" sz="135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60 seconds. The second snippet is illustrative and is not part o"/>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60 seconds. The second snippet is illustrative and is not part of the implemented rotator demo. An actor has a transform; adding a mesh or other visual is a separate step. World owns actors, which own components. Returned pointers are borrowed. World currently suffixes repeated actor names rather than rejecting them, so inspect the returned actor's actual name if later lookup matters. Actor is final; extend behavior through components.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Source/Engine/GameFramework/World/World.cpp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Source/Engine/GameFramework/World/Actor.h</a:t>
            </a:r>
            <a:endParaRPr lang="en-US" sz="135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2 minutes. This is the actual attachment logic, shortened with a"/>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2 minutes. This is the actual attachment logic, shortened with auto for slide readability. Open Game.cpp and point to ConfigureWorld. AddComponent constructs and attaches the component, then setters configure it. Owner is available after attachment, not in the constructor. Instance names are nonempty and unique within an actor. ConfigureWorld runs on a candidate World before BeginPlay, so dependencies and settings are ready for initialization. Reload creates a fresh World and repeats the attachment. Do not retain the returned pointer across reload.</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Source/Engine/GameFramework/World/Actor.h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Source/Engine/GameFramework/World/Actor.cpp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Source/Application/Game/GameApplication.cpp</a:t>
            </a:r>
            <a:endParaRPr lang="en-US" sz="135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The lookup snippet illustrates existing APIs; it is "/>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The lookup snippet illustrates existing APIs; it is not an extra implemented code block. Include GameFramework/Components/StaticMeshComponent.h and SpinComponent.h. GetComponent returns the first matching C++ type. When several components have the same type, use FindComponent with a name and check the cast. Inside your own component, use GetOwner and GetWorld. Resolve dependencies in BeginPlay after construction when possible. The companion walkthrough includes null-checked usage.</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Source/Engine/GameFramework/World/Actor.h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Source/Engine/GameFramework/World/Component.h</a:t>
            </a:r>
            <a:endParaRPr lang="en-US" sz="135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This is a shortened class outline; show SpinComponen"/>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This is a shortened class outline; show SpinComponent.h for the full class. The parameter is renamed to speed only for brevity, not as a new API. SpinComponent inherits Component because it modifies its owner or a target component rather than needing its own transform. Use SceneComponent when the feature has an actor-relative position or orientation of its own. Our rotator already has setters, a default speed, a target lookup helper, and yaw state. It has no input listener or owned resource that needs an EndPlay override.</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Source/Engine/GameFramework/Components/SceneComponent.h</a:t>
            </a:r>
            <a:endParaRPr lang="en-US" sz="135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2 minutes. Open SpinComponent::BeginPlay: it reads the authored "/>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2 minutes. Open SpinComponent::BeginPlay: it reads the authored yaw so spinning starts from the existing orientation. Explain that disabled components can still begin play, but enabled/active checks control normal updates. Components that subscribe to input should retain their listener IDs and remove them in EndPlay; this rotator has no subscription. Additions from component callbacks wait for a later collected World frame. Gameplay should not manually call World.BeginPlay or World.Update.</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Source/Engine/GameFramework/World/World.cpp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Source/Engine/GameFramework/World/Component.h</a:t>
            </a:r>
            <a:endParaRPr lang="en-US" sz="135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This is the actual Update body, reflowed to fit. Sta"/>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This is the actual Update body, reflowed to fit. State advances with elapsed time, not once by a fixed angle per frame. FullRotationDegrees is 360. Negative speed reverses direction; zero stops it. The setter rejects non-finite speed. The modulo bounds yaw, and negative remainders still represent valid angles. Reading the existing rotation retains pitch and roll. This component writes yaw, so coordinate with any other component that also writes the same target transform.</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Source/Application/Game/SpinComponent.cpp</a:t>
            </a:r>
            <a:endParaRPr lang="en-US" sz="135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60 seconds. This convention is easy to misread: GetLocalRotation"/>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60 seconds. This convention is easy to misread: GetLocalRotationDegrees().x is yaw, not rotation about X. Open Transform.h if needed. The three-argument setter takes yaw, pitch, roll. The actor is the root transform; SceneComponent composes an actor-relative transform. The current demo uses the actor target, which keeps the example simple. Target-name lookup is optional existing behavior. Position and scale are not changed by the rotator.</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Source/Engine/GameFramework/World/Transform.h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Source/Engine/GameFramework/Components/SceneComponent.h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Source/Application/Game/SpinComponent.cpp</a:t>
            </a:r>
            <a:endParaRPr lang="en-US" sz="135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Follow ProcessPendingSceneLoad in GameApplication.cp"/>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Follow ProcessPendingSceneLoad in GameApplication.cpp. Source conversion returns plain SceneData. BuildWorldFromSceneData creates engine actors and components. ConfigureWorld is the current extension for game behavior. After successful pre-commit construction the runtime clears the old World, commits the candidate, handles camera fallback, and calls BeginPlay. A later load that fails before replacement leaves the old World running; initial loading must succeed. Current scene requests use filesystem paths, not the SceneId mentioned in older guides.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Source/Application/Game/GameApplication.cpp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Source/Application/Game/GameApplication.h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Source/Engine/GameFramework/Scenes/SceneData.h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Source/Engine/GameFramework/Scenes/WorldFromSceneData.cpp</a:t>
            </a:r>
            <a:endParaRPr lang="en-US" sz="135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60 seconds. Keep this high level. The current loop runs Game.Upd"/>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60 seconds. Keep this high level. The current loop runs Game.Update before World.Update, then audio and coroutine scheduler work, followed by rendering. Delta time is capped at 0.25 seconds. World collects a frame list in actor/component order. Components added from callbacks wait for a later update; components added by Game.Update before World.Update can be collected that frame. Do not depend on incidental update order for a feature that should exchange intent explicitly.</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Source/Application/Game/GameApplication.cpp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Source/Engine/GameFramework/World/World.cpp</a:t>
            </a:r>
            <a:endParaRPr lang="en-US" sz="135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90 seconds. Explain the division between an independent algorith"/>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90 seconds. Explain the division between an independent algorithm and the component integrating it. Pathfinding can operate on navigation data without inheriting Component; an actor component connects its output to movement. Existing skeletal mesh and AnimatorComponent types can be reused. This engine does not acquire a complete player, navmesh, physics, or VFX system just by adding a component. Renderer or service integration may still be required by the feature itself.</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Source/Engine/GameFramework/World/Component.h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Source/Engine/GameFramework/Components/AnimatorComponent.h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Docs/GameFrameworkWalkthroughPlan.md</a:t>
            </a:r>
            <a:endParaRPr lang="en-US" sz="135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60 seconds today; expand after the school integration. Blockout "/>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60 seconds today; expand after the school integration. Blockout has no custom component example. The current importer categorizes Custom, but custom records become placeholders. Name identifies an instance; the category alone does not identify a Rotator or PlayerMovement class. Do not claim a ClassName or Properties field is already exported. Intended design: Game owns a small registry, registration is explicit and separated into a game registration file, duplicates fail, and unknown-type diagnostics are defined. Keep game classes out of the importer. Add the actual Unreal settings screenshot, a real JSON excerpt, the completed factory code, and a verified runtime speed change tomorrow. Remove manual attachment to avoid duplicates. No working factory API is shown in this deck.</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Content/ExportedScenes/lvl_blockout/Lvl_Blockout_Level.json</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Source/Engine/GameFramework/UnrealSceneImporter/UnrealSceneStructs.h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Source/Engine/GameFramework/UnrealSceneImporter/UnrealSceneImporter.cpp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Source/Engine/GameFramework/Scenes/SceneData.h</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Docs/GameFrameworkWalkthroughPlan.md</a:t>
            </a:r>
            <a:endParaRPr lang="en-US" sz="135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low 60 seconds, then questions. Return to the running demo or the at"/>
          <p:cNvSpPr txBox="1"/>
          <p:nvPr>
            <p:ph type="body" idx="1"/>
          </p:nvPr>
        </p:nvSpPr>
        <p:spPr>
          <a:xfrm>
            <a:off x="476250" y="952500"/>
            <a:ext cx="5905500" cy="7029450"/>
          </a:xfrm>
          <a:prstGeom prst="rect">
            <a:avLst/>
          </a:prstGeom>
          <a:noFill/>
          <a:ln>
            <a:noFill/>
          </a:ln>
        </p:spPr>
        <p:txBody>
          <a:bodyPr wrap="square" lIns="0" tIns="0" rIns="0" bIns="0" anchor="t">
            <a:noAutofit/>
          </a:bodyPr>
          <a:lstStyle/>
          <a:p>
            <a:pPr algn="l">
              <a:lnSpc>
                <a:spcPts val="1950"/>
              </a:lnSpc>
              <a:spcBef>
                <a:spcPts val="0"/>
              </a:spcBef>
              <a:spcAft>
                <a:spcPts val="0"/>
              </a:spcAft>
            </a:pPr>
            <a:r>
              <a:rPr lang="en-US" sz="1350" b="0" dirty="0">
                <a:solidFill>
                  <a:srgbClr val="152033"/>
                </a:solidFill>
                <a:latin typeface="Segoe UI"/>
                <a:ea typeface="Segoe UI"/>
                <a:cs typeface="Segoe UI"/>
              </a:rPr>
              <a:t xml:space="preserve">Allow 60 seconds, then questions. Return to the running demo or the attachment block. The key handoff is that teammates know where their classes go, how they get engine components, and when their behavior runs. For the current manual example, change SetDegreesPerSecond, rebuild, and reload to see configuration take effect; F4 reload alone does not compile C++ changes. Follow the companion guide's troubleshooting table. Finish by distinguishing the working manual demo from the deferred Unreal mapping.</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Code references:</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Docs/GameFrameworkWalkthrough.md</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Source/Application/Game/Game.cpp</a:t>
            </a:r>
            <a:endParaRPr lang="en-US" sz="1350"/>
          </a:p>
          <a:p>
            <a:pPr algn="l">
              <a:lnSpc>
                <a:spcPts val="1950"/>
              </a:lnSpc>
              <a:spcBef>
                <a:spcPts val="0"/>
              </a:spcBef>
              <a:spcAft>
                <a:spcPts val="0"/>
              </a:spcAft>
            </a:pPr>
            <a:r>
              <a:rPr lang="en-US" sz="1350" b="0" dirty="0">
                <a:solidFill>
                  <a:srgbClr val="152033"/>
                </a:solidFill>
                <a:latin typeface="Segoe UI"/>
                <a:ea typeface="Segoe UI"/>
                <a:cs typeface="Segoe UI"/>
              </a:rPr>
              <a:t xml:space="preserve">Source/Application/Game/SpinComponent.cpp</a:t>
            </a:r>
            <a:endParaRPr lang="en-US" sz="135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Framework">
    <p:bg>
      <p:bgPr>
        <a:solidFill>
          <a:srgbClr val="10172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Implementing gameplay with GameFramework">
    <p:bg>
      <p:bgPr>
        <a:solidFill>
          <a:srgbClr val="101724"/>
        </a:solidFill>
        <a:effectLst/>
      </p:bgPr>
    </p:bg>
    <p:spTree>
      <p:nvGrpSpPr>
        <p:cNvPr id="1" name=""/>
        <p:cNvGrpSpPr/>
        <p:nvPr/>
      </p:nvGrpSpPr>
      <p:grpSpPr>
        <a:xfrm>
          <a:off x="0" y="0"/>
          <a:ext cx="0" cy="0"/>
          <a:chOff x="0" y="0"/>
          <a:chExt cx="0" cy="0"/>
        </a:xfrm>
      </p:grpSpPr>
      <p:sp>
        <p:nvSpPr>
          <p:cNvPr id="2" name="GameFramework · Team walkthrough"/>
          <p:cNvSpPr txBox="1"/>
          <p:nvPr/>
        </p:nvSpPr>
        <p:spPr>
          <a:xfrm>
            <a:off x="609600" y="619125"/>
            <a:ext cx="10972798" cy="371475"/>
          </a:xfrm>
          <a:prstGeom prst="rect">
            <a:avLst/>
          </a:prstGeom>
          <a:noFill/>
          <a:ln>
            <a:noFill/>
          </a:ln>
        </p:spPr>
        <p:txBody>
          <a:bodyPr wrap="square" lIns="0" tIns="0" rIns="0" bIns="0" anchor="t">
            <a:noAutofit/>
          </a:bodyPr>
          <a:lstStyle/>
          <a:p>
            <a:pPr algn="l">
              <a:lnSpc>
                <a:spcPts val="2070"/>
              </a:lnSpc>
              <a:spcBef>
                <a:spcPts val="0"/>
              </a:spcBef>
              <a:spcAft>
                <a:spcPts val="0"/>
              </a:spcAft>
            </a:pPr>
            <a:r>
              <a:rPr lang="en-US" sz="1725" b="0" dirty="0">
                <a:solidFill>
                  <a:srgbClr val="FFBD75"/>
                </a:solidFill>
                <a:latin typeface="Segoe UI"/>
                <a:ea typeface="Segoe UI"/>
                <a:cs typeface="Segoe UI"/>
              </a:rPr>
              <a:t xml:space="preserve">GameFramework · Team walkthrough</a:t>
            </a:r>
            <a:endParaRPr lang="en-US" sz="1725"/>
          </a:p>
        </p:txBody>
      </p:sp>
      <p:sp>
        <p:nvSpPr>
          <p:cNvPr id="3" name="Implementing gameplay"/>
          <p:cNvSpPr txBox="1"/>
          <p:nvPr/>
        </p:nvSpPr>
        <p:spPr>
          <a:xfrm>
            <a:off x="609600" y="1352550"/>
            <a:ext cx="10972798" cy="1552872"/>
          </a:xfrm>
          <a:prstGeom prst="rect">
            <a:avLst/>
          </a:prstGeom>
          <a:noFill/>
          <a:ln>
            <a:noFill/>
          </a:ln>
        </p:spPr>
        <p:txBody>
          <a:bodyPr wrap="square" lIns="0" tIns="0" rIns="0" bIns="0" anchor="t">
            <a:noAutofit/>
          </a:bodyPr>
          <a:lstStyle/>
          <a:p>
            <a:pPr algn="l">
              <a:lnSpc>
                <a:spcPts val="5814"/>
              </a:lnSpc>
              <a:spcBef>
                <a:spcPts val="0"/>
              </a:spcBef>
              <a:spcAft>
                <a:spcPts val="0"/>
              </a:spcAft>
            </a:pPr>
            <a:r>
              <a:rPr lang="en-US" sz="5100" b="1" dirty="0" spc="-98">
                <a:solidFill>
                  <a:srgbClr val="F2F4F8"/>
                </a:solidFill>
                <a:latin typeface="Segoe UI"/>
                <a:ea typeface="Segoe UI"/>
                <a:cs typeface="Segoe UI"/>
              </a:rPr>
              <a:t xml:space="preserve">Implementing gameplay</a:t>
            </a:r>
            <a:endParaRPr lang="en-US" sz="5100"/>
          </a:p>
          <a:p>
            <a:pPr algn="l">
              <a:lnSpc>
                <a:spcPts val="5814"/>
              </a:lnSpc>
              <a:spcBef>
                <a:spcPts val="0"/>
              </a:spcBef>
              <a:spcAft>
                <a:spcPts val="0"/>
              </a:spcAft>
            </a:pPr>
            <a:r>
              <a:rPr lang="en-US" sz="5100" b="1" dirty="0" spc="-98">
                <a:solidFill>
                  <a:srgbClr val="F2F4F8"/>
                </a:solidFill>
                <a:latin typeface="Segoe UI"/>
                <a:ea typeface="Segoe UI"/>
                <a:cs typeface="Segoe UI"/>
              </a:rPr>
              <a:t xml:space="preserve">with GameFramework</a:t>
            </a:r>
            <a:endParaRPr lang="en-US" sz="5100"/>
          </a:p>
        </p:txBody>
      </p:sp>
      <p:sp>
        <p:nvSpPr>
          <p:cNvPr id="4" name="Find an actor. Attach behavior. Let the World run it."/>
          <p:cNvSpPr txBox="1"/>
          <p:nvPr/>
        </p:nvSpPr>
        <p:spPr>
          <a:xfrm>
            <a:off x="609600" y="3114972"/>
            <a:ext cx="8001000" cy="474762"/>
          </a:xfrm>
          <a:prstGeom prst="rect">
            <a:avLst/>
          </a:prstGeom>
          <a:noFill/>
          <a:ln>
            <a:noFill/>
          </a:ln>
        </p:spPr>
        <p:txBody>
          <a:bodyPr wrap="square" lIns="0" tIns="0" rIns="0" bIns="0" anchor="t">
            <a:noAutofit/>
          </a:bodyPr>
          <a:lstStyle/>
          <a:p>
            <a:pPr algn="l">
              <a:lnSpc>
                <a:spcPts val="3139"/>
              </a:lnSpc>
              <a:spcBef>
                <a:spcPts val="0"/>
              </a:spcBef>
              <a:spcAft>
                <a:spcPts val="0"/>
              </a:spcAft>
            </a:pPr>
            <a:r>
              <a:rPr lang="en-US" sz="2325" b="0" dirty="0">
                <a:solidFill>
                  <a:srgbClr val="F2F4F8"/>
                </a:solidFill>
                <a:latin typeface="Segoe UI"/>
                <a:ea typeface="Segoe UI"/>
                <a:cs typeface="Segoe UI"/>
              </a:rPr>
              <a:t xml:space="preserve">Find an actor. Attach behavior. Let the World run it.</a:t>
            </a:r>
            <a:endParaRPr lang="en-US" sz="2325"/>
          </a:p>
        </p:txBody>
      </p:sp>
      <p:sp>
        <p:nvSpPr>
          <p:cNvPr id="5" name="Working example: the rotating orientation gizmo"/>
          <p:cNvSpPr txBox="1"/>
          <p:nvPr/>
        </p:nvSpPr>
        <p:spPr>
          <a:xfrm>
            <a:off x="609600" y="6284118"/>
            <a:ext cx="4307532"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Working example: the rotating orientation gizmo</a:t>
            </a:r>
            <a:endParaRPr lang="en-US" sz="1575"/>
          </a:p>
        </p:txBody>
      </p:sp>
      <p:sp>
        <p:nvSpPr>
          <p:cNvPr id="6" name="01"/>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01</a:t>
            </a:r>
            <a:endParaRPr lang="en-US" sz="12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he rotator example">
    <p:bg>
      <p:bgPr>
        <a:solidFill>
          <a:srgbClr val="101724"/>
        </a:solidFill>
        <a:effectLst/>
      </p:bgPr>
    </p:bg>
    <p:spTree>
      <p:nvGrpSpPr>
        <p:cNvPr id="1" name=""/>
        <p:cNvGrpSpPr/>
        <p:nvPr/>
      </p:nvGrpSpPr>
      <p:grpSpPr>
        <a:xfrm>
          <a:off x="0" y="0"/>
          <a:ext cx="0" cy="0"/>
          <a:chOff x="0" y="0"/>
          <a:chExt cx="0" cy="0"/>
        </a:xfrm>
      </p:grpSpPr>
      <p:sp>
        <p:nvSpPr>
          <p:cNvPr id="2" name="The rotator example"/>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The rotator example</a:t>
            </a:r>
            <a:endParaRPr lang="en-US" sz="3600"/>
          </a:p>
        </p:txBody>
      </p:sp>
      <p:sp>
        <p:nvSpPr>
          <p:cNvPr id="3" name="The scene supplies the actor and mesh. Our component supplies rotation"/>
          <p:cNvSpPr txBox="1"/>
          <p:nvPr/>
        </p:nvSpPr>
        <p:spPr>
          <a:xfrm>
            <a:off x="609600" y="1302246"/>
            <a:ext cx="10001249" cy="474762"/>
          </a:xfrm>
          <a:prstGeom prst="rect">
            <a:avLst/>
          </a:prstGeom>
          <a:noFill/>
          <a:ln>
            <a:noFill/>
          </a:ln>
        </p:spPr>
        <p:txBody>
          <a:bodyPr wrap="square" lIns="0" tIns="0" rIns="0" bIns="0" anchor="t">
            <a:noAutofit/>
          </a:bodyPr>
          <a:lstStyle/>
          <a:p>
            <a:pPr algn="l">
              <a:lnSpc>
                <a:spcPts val="3139"/>
              </a:lnSpc>
              <a:spcBef>
                <a:spcPts val="0"/>
              </a:spcBef>
              <a:spcAft>
                <a:spcPts val="0"/>
              </a:spcAft>
            </a:pPr>
            <a:r>
              <a:rPr lang="en-US" sz="2325" b="0" dirty="0">
                <a:solidFill>
                  <a:srgbClr val="F2F4F8"/>
                </a:solidFill>
                <a:latin typeface="Segoe UI"/>
                <a:ea typeface="Segoe UI"/>
                <a:cs typeface="Segoe UI"/>
              </a:rPr>
              <a:t xml:space="preserve">The scene supplies the actor and mesh. Our component supplies rotation.</a:t>
            </a:r>
            <a:endParaRPr lang="en-US" sz="2325"/>
          </a:p>
        </p:txBody>
      </p:sp>
      <p:sp>
        <p:nvSpPr>
          <p:cNvPr id="4" name="Imported actor: OrientationGizmos_TGE"/>
          <p:cNvSpPr txBox="1"/>
          <p:nvPr/>
        </p:nvSpPr>
        <p:spPr>
          <a:xfrm>
            <a:off x="962025" y="1986558"/>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Imported actor: OrientationGizmos_TGE</a:t>
            </a:r>
            <a:endParaRPr lang="en-US" sz="2100"/>
          </a:p>
        </p:txBody>
      </p:sp>
      <p:sp>
        <p:nvSpPr>
          <p:cNvPr id="5" name="•"/>
          <p:cNvSpPr txBox="1"/>
          <p:nvPr/>
        </p:nvSpPr>
        <p:spPr>
          <a:xfrm>
            <a:off x="523875" y="1986558"/>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6" name="Game behavior: SpinComponent"/>
          <p:cNvSpPr txBox="1"/>
          <p:nvPr/>
        </p:nvSpPr>
        <p:spPr>
          <a:xfrm>
            <a:off x="962025" y="2508051"/>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Game behavior: SpinComponent</a:t>
            </a:r>
            <a:endParaRPr lang="en-US" sz="2100"/>
          </a:p>
        </p:txBody>
      </p:sp>
      <p:sp>
        <p:nvSpPr>
          <p:cNvPr id="7" name="•"/>
          <p:cNvSpPr txBox="1"/>
          <p:nvPr/>
        </p:nvSpPr>
        <p:spPr>
          <a:xfrm>
            <a:off x="523875" y="2508051"/>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8" name="Demo setting: 45 degrees per second"/>
          <p:cNvSpPr txBox="1"/>
          <p:nvPr/>
        </p:nvSpPr>
        <p:spPr>
          <a:xfrm>
            <a:off x="962025" y="3029545"/>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Demo setting: 45 degrees per second</a:t>
            </a:r>
            <a:endParaRPr lang="en-US" sz="2100"/>
          </a:p>
        </p:txBody>
      </p:sp>
      <p:sp>
        <p:nvSpPr>
          <p:cNvPr id="9" name="•"/>
          <p:cNvSpPr txBox="1"/>
          <p:nvPr/>
        </p:nvSpPr>
        <p:spPr>
          <a:xfrm>
            <a:off x="523875" y="3029545"/>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10" name="Live demo: show the gizmo, then press F4 to reload"/>
          <p:cNvSpPr txBox="1"/>
          <p:nvPr/>
        </p:nvSpPr>
        <p:spPr>
          <a:xfrm>
            <a:off x="609600" y="6284118"/>
            <a:ext cx="4536430"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Live demo: show the gizmo, then press F4 to reload</a:t>
            </a:r>
            <a:endParaRPr lang="en-US" sz="1575"/>
          </a:p>
        </p:txBody>
      </p:sp>
      <p:sp>
        <p:nvSpPr>
          <p:cNvPr id="11" name="02"/>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02</a:t>
            </a:r>
            <a:endParaRPr lang="en-US" sz="12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Where your code belongs">
    <p:bg>
      <p:bgPr>
        <a:solidFill>
          <a:srgbClr val="101724"/>
        </a:solidFill>
        <a:effectLst/>
      </p:bgPr>
    </p:bg>
    <p:spTree>
      <p:nvGrpSpPr>
        <p:cNvPr id="1" name=""/>
        <p:cNvGrpSpPr/>
        <p:nvPr/>
      </p:nvGrpSpPr>
      <p:grpSpPr>
        <a:xfrm>
          <a:off x="0" y="0"/>
          <a:ext cx="0" cy="0"/>
          <a:chOff x="0" y="0"/>
          <a:chExt cx="0" cy="0"/>
        </a:xfrm>
      </p:grpSpPr>
      <p:sp>
        <p:nvSpPr>
          <p:cNvPr id="2" name="Where your code belongs"/>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Where your code belongs</a:t>
            </a:r>
            <a:endParaRPr lang="en-US" sz="3600"/>
          </a:p>
        </p:txBody>
      </p:sp>
      <p:sp>
        <p:nvSpPr>
          <p:cNvPr id="3" name="Your behavior"/>
          <p:cNvSpPr txBox="1"/>
          <p:nvPr/>
        </p:nvSpPr>
        <p:spPr>
          <a:xfrm>
            <a:off x="609600" y="1559421"/>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Your behavior</a:t>
            </a:r>
            <a:endParaRPr lang="en-US" sz="2025"/>
          </a:p>
        </p:txBody>
      </p:sp>
      <p:sp>
        <p:nvSpPr>
          <p:cNvPr id="4" name="Source/Application/Game — custom components and feature systems"/>
          <p:cNvSpPr txBox="1"/>
          <p:nvPr/>
        </p:nvSpPr>
        <p:spPr>
          <a:xfrm>
            <a:off x="2971800" y="1559421"/>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Source/Application/Game — custom components and feature systems</a:t>
            </a:r>
            <a:endParaRPr lang="en-US" sz="2025"/>
          </a:p>
        </p:txBody>
      </p:sp>
      <p:sp>
        <p:nvSpPr>
          <p:cNvPr id="5" name="Scene setup"/>
          <p:cNvSpPr txBox="1"/>
          <p:nvPr/>
        </p:nvSpPr>
        <p:spPr>
          <a:xfrm>
            <a:off x="609600" y="2316063"/>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Scene setup</a:t>
            </a:r>
            <a:endParaRPr lang="en-US" sz="2025"/>
          </a:p>
        </p:txBody>
      </p:sp>
      <p:sp>
        <p:nvSpPr>
          <p:cNvPr id="6" name="Game::ConfigureWorld — attach and configure per-scene behavior"/>
          <p:cNvSpPr txBox="1"/>
          <p:nvPr/>
        </p:nvSpPr>
        <p:spPr>
          <a:xfrm>
            <a:off x="2971800" y="2316063"/>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Game::ConfigureWorld — attach and configure per-scene behavior</a:t>
            </a:r>
            <a:endParaRPr lang="en-US" sz="2025"/>
          </a:p>
        </p:txBody>
      </p:sp>
      <p:sp>
        <p:nvSpPr>
          <p:cNvPr id="7" name="Engine components"/>
          <p:cNvSpPr txBox="1"/>
          <p:nvPr/>
        </p:nvSpPr>
        <p:spPr>
          <a:xfrm>
            <a:off x="609600" y="3072705"/>
            <a:ext cx="2133600" cy="762000"/>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Engine components</a:t>
            </a:r>
            <a:endParaRPr lang="en-US" sz="2025"/>
          </a:p>
        </p:txBody>
      </p:sp>
      <p:sp>
        <p:nvSpPr>
          <p:cNvPr id="8" name="GameFramework/Components — reuse meshes, animation, cameras, lights"/>
          <p:cNvSpPr txBox="1"/>
          <p:nvPr/>
        </p:nvSpPr>
        <p:spPr>
          <a:xfrm>
            <a:off x="2971800" y="3072705"/>
            <a:ext cx="8610598" cy="762000"/>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GameFramework/Components — reuse meshes, animation, cameras, lights</a:t>
            </a:r>
            <a:endParaRPr lang="en-US" sz="2025"/>
          </a:p>
        </p:txBody>
      </p:sp>
      <p:sp>
        <p:nvSpPr>
          <p:cNvPr id="9" name="Runtime"/>
          <p:cNvSpPr txBox="1"/>
          <p:nvPr/>
        </p:nvSpPr>
        <p:spPr>
          <a:xfrm>
            <a:off x="609600" y="4168080"/>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Runtime</a:t>
            </a:r>
            <a:endParaRPr lang="en-US" sz="2025"/>
          </a:p>
        </p:txBody>
      </p:sp>
      <p:sp>
        <p:nvSpPr>
          <p:cNvPr id="10" name="GameApplication — scene loading and the frame loop"/>
          <p:cNvSpPr txBox="1"/>
          <p:nvPr/>
        </p:nvSpPr>
        <p:spPr>
          <a:xfrm>
            <a:off x="2971800" y="4168080"/>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GameApplication — scene loading and the frame loop</a:t>
            </a:r>
            <a:endParaRPr lang="en-US" sz="2025"/>
          </a:p>
        </p:txBody>
      </p:sp>
      <p:sp>
        <p:nvSpPr>
          <p:cNvPr id="11" name="New source files must also be included in the generated Game project"/>
          <p:cNvSpPr txBox="1"/>
          <p:nvPr/>
        </p:nvSpPr>
        <p:spPr>
          <a:xfrm>
            <a:off x="609600" y="6284118"/>
            <a:ext cx="6183212"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New source files must also be included in the generated Game project</a:t>
            </a:r>
            <a:endParaRPr lang="en-US" sz="1575"/>
          </a:p>
        </p:txBody>
      </p:sp>
      <p:sp>
        <p:nvSpPr>
          <p:cNvPr id="12" name="03"/>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03</a:t>
            </a:r>
            <a:endParaRPr lang="en-US" sz="12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ind an actor or create one">
    <p:bg>
      <p:bgPr>
        <a:solidFill>
          <a:srgbClr val="101724"/>
        </a:solidFill>
        <a:effectLst/>
      </p:bgPr>
    </p:bg>
    <p:spTree>
      <p:nvGrpSpPr>
        <p:cNvPr id="1" name=""/>
        <p:cNvGrpSpPr/>
        <p:nvPr/>
      </p:nvGrpSpPr>
      <p:grpSpPr>
        <a:xfrm>
          <a:off x="0" y="0"/>
          <a:ext cx="0" cy="0"/>
          <a:chOff x="0" y="0"/>
          <a:chExt cx="0" cy="0"/>
        </a:xfrm>
      </p:grpSpPr>
      <p:sp>
        <p:nvSpPr>
          <p:cNvPr id="2" name="Find an actor or create one"/>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Find an actor or create one</a:t>
            </a:r>
            <a:endParaRPr lang="en-US" sz="3600"/>
          </a:p>
        </p:txBody>
      </p:sp>
      <p:sp>
        <p:nvSpPr>
          <p:cNvPr id="3" name="// Use an actor already imported from the scene."/>
          <p:cNvSpPr txBox="1"/>
          <p:nvPr/>
        </p:nvSpPr>
        <p:spPr>
          <a:xfrm>
            <a:off x="609600" y="1340346"/>
            <a:ext cx="10972798" cy="2105918"/>
          </a:xfrm>
          <a:prstGeom prst="rect">
            <a:avLst/>
          </a:prstGeom>
          <a:noFill/>
          <a:ln>
            <a:noFill/>
          </a:ln>
        </p:spPr>
        <p:txBody>
          <a:bodyPr wrap="none" lIns="0" tIns="0" rIns="0" bIns="0" anchor="t">
            <a:noAutofit/>
          </a:bodyPr>
          <a:lstStyle/>
          <a:p>
            <a:pPr algn="l">
              <a:lnSpc>
                <a:spcPts val="2664"/>
              </a:lnSpc>
              <a:spcBef>
                <a:spcPts val="0"/>
              </a:spcBef>
              <a:spcAft>
                <a:spcPts val="0"/>
              </a:spcAft>
            </a:pPr>
            <a:r>
              <a:rPr lang="en-US" sz="1800" b="0" dirty="0">
                <a:solidFill>
                  <a:srgbClr val="CEE5FF"/>
                </a:solidFill>
                <a:latin typeface="Consolas"/>
                <a:ea typeface="Consolas"/>
                <a:cs typeface="Consolas"/>
              </a:rPr>
              <a:t xml:space="preserve">// Use an actor already imported from the scene.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Actor* actor = world.FindActor(</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"OrientationGizmos_TGE");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Or create a new actor for a runtime feature.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Actor* pickup = world.SpawnActor("LootPickup");</a:t>
            </a:r>
            <a:endParaRPr lang="en-US" sz="1800"/>
          </a:p>
        </p:txBody>
      </p:sp>
      <p:sp>
        <p:nvSpPr>
          <p:cNvPr id="4" name="Lookups can return null"/>
          <p:cNvSpPr txBox="1"/>
          <p:nvPr/>
        </p:nvSpPr>
        <p:spPr>
          <a:xfrm>
            <a:off x="962025" y="3617714"/>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Lookups can return null</a:t>
            </a:r>
            <a:endParaRPr lang="en-US" sz="2100"/>
          </a:p>
        </p:txBody>
      </p:sp>
      <p:sp>
        <p:nvSpPr>
          <p:cNvPr id="5" name="•"/>
          <p:cNvSpPr txBox="1"/>
          <p:nvPr/>
        </p:nvSpPr>
        <p:spPr>
          <a:xfrm>
            <a:off x="523875" y="3617714"/>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6" name="A new actor needs a visual component to be visible"/>
          <p:cNvSpPr txBox="1"/>
          <p:nvPr/>
        </p:nvSpPr>
        <p:spPr>
          <a:xfrm>
            <a:off x="962025" y="4139207"/>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A new actor needs a visual component to be visible</a:t>
            </a:r>
            <a:endParaRPr lang="en-US" sz="2100"/>
          </a:p>
        </p:txBody>
      </p:sp>
      <p:sp>
        <p:nvSpPr>
          <p:cNvPr id="7" name="•"/>
          <p:cNvSpPr txBox="1"/>
          <p:nvPr/>
        </p:nvSpPr>
        <p:spPr>
          <a:xfrm>
            <a:off x="523875" y="4139207"/>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8" name="04"/>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04</a:t>
            </a:r>
            <a:endParaRPr lang="en-US" sz="12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Attach and configure behavior">
    <p:bg>
      <p:bgPr>
        <a:solidFill>
          <a:srgbClr val="101724"/>
        </a:solidFill>
        <a:effectLst/>
      </p:bgPr>
    </p:bg>
    <p:spTree>
      <p:nvGrpSpPr>
        <p:cNvPr id="1" name=""/>
        <p:cNvGrpSpPr/>
        <p:nvPr/>
      </p:nvGrpSpPr>
      <p:grpSpPr>
        <a:xfrm>
          <a:off x="0" y="0"/>
          <a:ext cx="0" cy="0"/>
          <a:chOff x="0" y="0"/>
          <a:chExt cx="0" cy="0"/>
        </a:xfrm>
      </p:grpSpPr>
      <p:sp>
        <p:nvSpPr>
          <p:cNvPr id="2" name="Attach and configure behavior"/>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Attach and configure behavior</a:t>
            </a:r>
            <a:endParaRPr lang="en-US" sz="3600"/>
          </a:p>
        </p:txBody>
      </p:sp>
      <p:sp>
        <p:nvSpPr>
          <p:cNvPr id="3" name="// Inside Game::ConfigureWorld"/>
          <p:cNvSpPr txBox="1"/>
          <p:nvPr/>
        </p:nvSpPr>
        <p:spPr>
          <a:xfrm>
            <a:off x="609600" y="1340346"/>
            <a:ext cx="10972798" cy="2782490"/>
          </a:xfrm>
          <a:prstGeom prst="rect">
            <a:avLst/>
          </a:prstGeom>
          <a:noFill/>
          <a:ln>
            <a:noFill/>
          </a:ln>
        </p:spPr>
        <p:txBody>
          <a:bodyPr wrap="none" lIns="0" tIns="0" rIns="0" bIns="0" anchor="t">
            <a:noAutofit/>
          </a:bodyPr>
          <a:lstStyle/>
          <a:p>
            <a:pPr algn="l">
              <a:lnSpc>
                <a:spcPts val="2664"/>
              </a:lnSpc>
              <a:spcBef>
                <a:spcPts val="0"/>
              </a:spcBef>
              <a:spcAft>
                <a:spcPts val="0"/>
              </a:spcAft>
            </a:pPr>
            <a:r>
              <a:rPr lang="en-US" sz="1800" b="0" dirty="0">
                <a:solidFill>
                  <a:srgbClr val="CEE5FF"/>
                </a:solidFill>
                <a:latin typeface="Consolas"/>
                <a:ea typeface="Consolas"/>
                <a:cs typeface="Consolas"/>
              </a:rPr>
              <a:t xml:space="preserve">// Inside Game::ConfigureWorld</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if (Actor* actor = aWorld.FindActor(</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"OrientationGizmos_TGE"))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auto* rotator = actor-&gt;AddComponent&lt;SpinComponent&gt;(</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"WalkthroughRotator");</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rotator-&gt;SetDegreesPerSecond(45.0f);</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p:txBody>
      </p:sp>
      <p:sp>
        <p:nvSpPr>
          <p:cNvPr id="4" name="C++ type selects the class; the string names this instance"/>
          <p:cNvSpPr txBox="1"/>
          <p:nvPr/>
        </p:nvSpPr>
        <p:spPr>
          <a:xfrm>
            <a:off x="609600" y="6284118"/>
            <a:ext cx="5010894"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C++ type selects the class; the string names this instance</a:t>
            </a:r>
            <a:endParaRPr lang="en-US" sz="1575"/>
          </a:p>
        </p:txBody>
      </p:sp>
      <p:sp>
        <p:nvSpPr>
          <p:cNvPr id="5" name="05"/>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05</a:t>
            </a:r>
            <a:endParaRPr lang="en-US" sz="12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Retrieve existing components">
    <p:bg>
      <p:bgPr>
        <a:solidFill>
          <a:srgbClr val="101724"/>
        </a:solidFill>
        <a:effectLst/>
      </p:bgPr>
    </p:bg>
    <p:spTree>
      <p:nvGrpSpPr>
        <p:cNvPr id="1" name=""/>
        <p:cNvGrpSpPr/>
        <p:nvPr/>
      </p:nvGrpSpPr>
      <p:grpSpPr>
        <a:xfrm>
          <a:off x="0" y="0"/>
          <a:ext cx="0" cy="0"/>
          <a:chOff x="0" y="0"/>
          <a:chExt cx="0" cy="0"/>
        </a:xfrm>
      </p:grpSpPr>
      <p:sp>
        <p:nvSpPr>
          <p:cNvPr id="2" name="Retrieve existing components"/>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Retrieve existing components</a:t>
            </a:r>
            <a:endParaRPr lang="en-US" sz="3600"/>
          </a:p>
        </p:txBody>
      </p:sp>
      <p:sp>
        <p:nvSpPr>
          <p:cNvPr id="3" name="// First component of this engine type."/>
          <p:cNvSpPr txBox="1"/>
          <p:nvPr/>
        </p:nvSpPr>
        <p:spPr>
          <a:xfrm>
            <a:off x="609600" y="1340346"/>
            <a:ext cx="10972798" cy="2444204"/>
          </a:xfrm>
          <a:prstGeom prst="rect">
            <a:avLst/>
          </a:prstGeom>
          <a:noFill/>
          <a:ln>
            <a:noFill/>
          </a:ln>
        </p:spPr>
        <p:txBody>
          <a:bodyPr wrap="none" lIns="0" tIns="0" rIns="0" bIns="0" anchor="t">
            <a:noAutofit/>
          </a:bodyPr>
          <a:lstStyle/>
          <a:p>
            <a:pPr algn="l">
              <a:lnSpc>
                <a:spcPts val="2664"/>
              </a:lnSpc>
              <a:spcBef>
                <a:spcPts val="0"/>
              </a:spcBef>
              <a:spcAft>
                <a:spcPts val="0"/>
              </a:spcAft>
            </a:pPr>
            <a:r>
              <a:rPr lang="en-US" sz="1800" b="0" dirty="0">
                <a:solidFill>
                  <a:srgbClr val="CEE5FF"/>
                </a:solidFill>
                <a:latin typeface="Consolas"/>
                <a:ea typeface="Consolas"/>
                <a:cs typeface="Consolas"/>
              </a:rPr>
              <a:t xml:space="preserve">// First component of this engine type.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auto* mesh = actor-&gt;GetComponent&lt;StaticMeshComponent&gt;();</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One named instance, checked for its game type.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Component* component = actor-&gt;FindComponent(</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"WalkthroughRotator");</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auto* rotator = dynamic_cast&lt;SpinComponent*&gt;(component);</a:t>
            </a:r>
            <a:endParaRPr lang="en-US" sz="1800"/>
          </a:p>
        </p:txBody>
      </p:sp>
      <p:sp>
        <p:nvSpPr>
          <p:cNvPr id="4" name="Include the engine or game component header"/>
          <p:cNvSpPr txBox="1"/>
          <p:nvPr/>
        </p:nvSpPr>
        <p:spPr>
          <a:xfrm>
            <a:off x="962025" y="3956000"/>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Include the engine or game component header</a:t>
            </a:r>
            <a:endParaRPr lang="en-US" sz="2100"/>
          </a:p>
        </p:txBody>
      </p:sp>
      <p:sp>
        <p:nvSpPr>
          <p:cNvPr id="5" name="•"/>
          <p:cNvSpPr txBox="1"/>
          <p:nvPr/>
        </p:nvSpPr>
        <p:spPr>
          <a:xfrm>
            <a:off x="523875" y="3956000"/>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6" name="Check for null before using either result"/>
          <p:cNvSpPr txBox="1"/>
          <p:nvPr/>
        </p:nvSpPr>
        <p:spPr>
          <a:xfrm>
            <a:off x="962025" y="4477494"/>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Check for null before using either result</a:t>
            </a:r>
            <a:endParaRPr lang="en-US" sz="2100"/>
          </a:p>
        </p:txBody>
      </p:sp>
      <p:sp>
        <p:nvSpPr>
          <p:cNvPr id="7" name="•"/>
          <p:cNvSpPr txBox="1"/>
          <p:nvPr/>
        </p:nvSpPr>
        <p:spPr>
          <a:xfrm>
            <a:off x="523875" y="4477494"/>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8" name="06"/>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06</a:t>
            </a:r>
            <a:endParaRPr lang="en-US" sz="12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e custom component class">
    <p:bg>
      <p:bgPr>
        <a:solidFill>
          <a:srgbClr val="101724"/>
        </a:solidFill>
        <a:effectLst/>
      </p:bgPr>
    </p:bg>
    <p:spTree>
      <p:nvGrpSpPr>
        <p:cNvPr id="1" name=""/>
        <p:cNvGrpSpPr/>
        <p:nvPr/>
      </p:nvGrpSpPr>
      <p:grpSpPr>
        <a:xfrm>
          <a:off x="0" y="0"/>
          <a:ext cx="0" cy="0"/>
          <a:chOff x="0" y="0"/>
          <a:chExt cx="0" cy="0"/>
        </a:xfrm>
      </p:grpSpPr>
      <p:sp>
        <p:nvSpPr>
          <p:cNvPr id="2" name="The custom component class"/>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The custom component class</a:t>
            </a:r>
            <a:endParaRPr lang="en-US" sz="3600"/>
          </a:p>
        </p:txBody>
      </p:sp>
      <p:sp>
        <p:nvSpPr>
          <p:cNvPr id="3" name="class SpinComponent final : public Component"/>
          <p:cNvSpPr txBox="1"/>
          <p:nvPr/>
        </p:nvSpPr>
        <p:spPr>
          <a:xfrm>
            <a:off x="609600" y="1340346"/>
            <a:ext cx="10972798" cy="3120777"/>
          </a:xfrm>
          <a:prstGeom prst="rect">
            <a:avLst/>
          </a:prstGeom>
          <a:noFill/>
          <a:ln>
            <a:noFill/>
          </a:ln>
        </p:spPr>
        <p:txBody>
          <a:bodyPr wrap="none" lIns="0" tIns="0" rIns="0" bIns="0" anchor="t">
            <a:noAutofit/>
          </a:bodyPr>
          <a:lstStyle/>
          <a:p>
            <a:pPr algn="l">
              <a:lnSpc>
                <a:spcPts val="2664"/>
              </a:lnSpc>
              <a:spcBef>
                <a:spcPts val="0"/>
              </a:spcBef>
              <a:spcAft>
                <a:spcPts val="0"/>
              </a:spcAft>
            </a:pPr>
            <a:r>
              <a:rPr lang="en-US" sz="1800" b="0" dirty="0">
                <a:solidFill>
                  <a:srgbClr val="CEE5FF"/>
                </a:solidFill>
                <a:latin typeface="Consolas"/>
                <a:ea typeface="Consolas"/>
                <a:cs typeface="Consolas"/>
              </a:rPr>
              <a:t xml:space="preserve">class SpinComponent final : public Component</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public:</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void SetDegreesPerSecond(float speed);</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void BeginPlay() override;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void Update(float deltaTime) override;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 Target selection and private state omitted here.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p:txBody>
      </p:sp>
      <p:sp>
        <p:nvSpPr>
          <p:cNvPr id="4" name="Component adds behavior; SceneComponent also adds a spatial offset"/>
          <p:cNvSpPr txBox="1"/>
          <p:nvPr/>
        </p:nvSpPr>
        <p:spPr>
          <a:xfrm>
            <a:off x="609600" y="6284118"/>
            <a:ext cx="6233665"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Component adds behavior; SceneComponent also adds a spatial offset</a:t>
            </a:r>
            <a:endParaRPr lang="en-US" sz="1575"/>
          </a:p>
        </p:txBody>
      </p:sp>
      <p:sp>
        <p:nvSpPr>
          <p:cNvPr id="5" name="07"/>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07</a:t>
            </a:r>
            <a:endParaRPr lang="en-US" sz="12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mponent lifecycle">
    <p:bg>
      <p:bgPr>
        <a:solidFill>
          <a:srgbClr val="101724"/>
        </a:solidFill>
        <a:effectLst/>
      </p:bgPr>
    </p:bg>
    <p:spTree>
      <p:nvGrpSpPr>
        <p:cNvPr id="1" name=""/>
        <p:cNvGrpSpPr/>
        <p:nvPr/>
      </p:nvGrpSpPr>
      <p:grpSpPr>
        <a:xfrm>
          <a:off x="0" y="0"/>
          <a:ext cx="0" cy="0"/>
          <a:chOff x="0" y="0"/>
          <a:chExt cx="0" cy="0"/>
        </a:xfrm>
      </p:grpSpPr>
      <p:sp>
        <p:nvSpPr>
          <p:cNvPr id="2" name="Component lifecycle"/>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Component lifecycle</a:t>
            </a:r>
            <a:endParaRPr lang="en-US" sz="3600"/>
          </a:p>
        </p:txBody>
      </p:sp>
      <p:sp>
        <p:nvSpPr>
          <p:cNvPr id="3" name="Configure"/>
          <p:cNvSpPr txBox="1"/>
          <p:nvPr/>
        </p:nvSpPr>
        <p:spPr>
          <a:xfrm>
            <a:off x="609600" y="1559421"/>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Configure</a:t>
            </a:r>
            <a:endParaRPr lang="en-US" sz="2025"/>
          </a:p>
        </p:txBody>
      </p:sp>
      <p:sp>
        <p:nvSpPr>
          <p:cNvPr id="4" name="Defaults and setters establish values before play"/>
          <p:cNvSpPr txBox="1"/>
          <p:nvPr/>
        </p:nvSpPr>
        <p:spPr>
          <a:xfrm>
            <a:off x="2971800" y="1559421"/>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Defaults and setters establish values before play</a:t>
            </a:r>
            <a:endParaRPr lang="en-US" sz="2025"/>
          </a:p>
        </p:txBody>
      </p:sp>
      <p:sp>
        <p:nvSpPr>
          <p:cNvPr id="5" name="BeginPlay"/>
          <p:cNvSpPr txBox="1"/>
          <p:nvPr/>
        </p:nvSpPr>
        <p:spPr>
          <a:xfrm>
            <a:off x="609600" y="2316063"/>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BeginPlay</a:t>
            </a:r>
            <a:endParaRPr lang="en-US" sz="2025"/>
          </a:p>
        </p:txBody>
      </p:sp>
      <p:sp>
        <p:nvSpPr>
          <p:cNvPr id="6" name="Resolve dependencies and initialize runtime state"/>
          <p:cNvSpPr txBox="1"/>
          <p:nvPr/>
        </p:nvSpPr>
        <p:spPr>
          <a:xfrm>
            <a:off x="2971800" y="2316063"/>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Resolve dependencies and initialize runtime state</a:t>
            </a:r>
            <a:endParaRPr lang="en-US" sz="2025"/>
          </a:p>
        </p:txBody>
      </p:sp>
      <p:sp>
        <p:nvSpPr>
          <p:cNvPr id="7" name="Update"/>
          <p:cNvSpPr txBox="1"/>
          <p:nvPr/>
        </p:nvSpPr>
        <p:spPr>
          <a:xfrm>
            <a:off x="609600" y="3072705"/>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Update</a:t>
            </a:r>
            <a:endParaRPr lang="en-US" sz="2025"/>
          </a:p>
        </p:txBody>
      </p:sp>
      <p:sp>
        <p:nvSpPr>
          <p:cNvPr id="8" name="Advance enabled behavior on an active actor"/>
          <p:cNvSpPr txBox="1"/>
          <p:nvPr/>
        </p:nvSpPr>
        <p:spPr>
          <a:xfrm>
            <a:off x="2971800" y="3072705"/>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Advance enabled behavior on an active actor</a:t>
            </a:r>
            <a:endParaRPr lang="en-US" sz="2025"/>
          </a:p>
        </p:txBody>
      </p:sp>
      <p:sp>
        <p:nvSpPr>
          <p:cNvPr id="9" name="EndPlay"/>
          <p:cNvSpPr txBox="1"/>
          <p:nvPr/>
        </p:nvSpPr>
        <p:spPr>
          <a:xfrm>
            <a:off x="609600" y="3829347"/>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EndPlay</a:t>
            </a:r>
            <a:endParaRPr lang="en-US" sz="2025"/>
          </a:p>
        </p:txBody>
      </p:sp>
      <p:sp>
        <p:nvSpPr>
          <p:cNvPr id="10" name="Remove subscriptions and release runtime connections"/>
          <p:cNvSpPr txBox="1"/>
          <p:nvPr/>
        </p:nvSpPr>
        <p:spPr>
          <a:xfrm>
            <a:off x="2971800" y="3829347"/>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Remove subscriptions and release runtime connections</a:t>
            </a:r>
            <a:endParaRPr lang="en-US" sz="2025"/>
          </a:p>
        </p:txBody>
      </p:sp>
      <p:sp>
        <p:nvSpPr>
          <p:cNvPr id="11" name="The application and World drive lifecycle calls for you"/>
          <p:cNvSpPr txBox="1"/>
          <p:nvPr/>
        </p:nvSpPr>
        <p:spPr>
          <a:xfrm>
            <a:off x="609600" y="6284118"/>
            <a:ext cx="4687788"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The application and World drive lifecycle calls for you</a:t>
            </a:r>
            <a:endParaRPr lang="en-US" sz="1575"/>
          </a:p>
        </p:txBody>
      </p:sp>
      <p:sp>
        <p:nvSpPr>
          <p:cNvPr id="12" name="08"/>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08</a:t>
            </a:r>
            <a:endParaRPr lang="en-US" sz="12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Rotation during Update">
    <p:bg>
      <p:bgPr>
        <a:solidFill>
          <a:srgbClr val="101724"/>
        </a:solidFill>
        <a:effectLst/>
      </p:bgPr>
    </p:bg>
    <p:spTree>
      <p:nvGrpSpPr>
        <p:cNvPr id="1" name=""/>
        <p:cNvGrpSpPr/>
        <p:nvPr/>
      </p:nvGrpSpPr>
      <p:grpSpPr>
        <a:xfrm>
          <a:off x="0" y="0"/>
          <a:ext cx="0" cy="0"/>
          <a:chOff x="0" y="0"/>
          <a:chExt cx="0" cy="0"/>
        </a:xfrm>
      </p:grpSpPr>
      <p:sp>
        <p:nvSpPr>
          <p:cNvPr id="2" name="Rotation during Update"/>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Rotation during Update</a:t>
            </a:r>
            <a:endParaRPr lang="en-US" sz="3600"/>
          </a:p>
        </p:txBody>
      </p:sp>
      <p:sp>
        <p:nvSpPr>
          <p:cNvPr id="3" name="myYaw += myDegreesPerSecond * deltaTime;"/>
          <p:cNvSpPr txBox="1"/>
          <p:nvPr/>
        </p:nvSpPr>
        <p:spPr>
          <a:xfrm>
            <a:off x="609600" y="1340346"/>
            <a:ext cx="10972798" cy="3120777"/>
          </a:xfrm>
          <a:prstGeom prst="rect">
            <a:avLst/>
          </a:prstGeom>
          <a:noFill/>
          <a:ln>
            <a:noFill/>
          </a:ln>
        </p:spPr>
        <p:txBody>
          <a:bodyPr wrap="none" lIns="0" tIns="0" rIns="0" bIns="0" anchor="t">
            <a:noAutofit/>
          </a:bodyPr>
          <a:lstStyle/>
          <a:p>
            <a:pPr algn="l">
              <a:lnSpc>
                <a:spcPts val="2664"/>
              </a:lnSpc>
              <a:spcBef>
                <a:spcPts val="0"/>
              </a:spcBef>
              <a:spcAft>
                <a:spcPts val="0"/>
              </a:spcAft>
            </a:pPr>
            <a:r>
              <a:rPr lang="en-US" sz="1800" b="0" dirty="0">
                <a:solidFill>
                  <a:srgbClr val="CEE5FF"/>
                </a:solidFill>
                <a:latin typeface="Consolas"/>
                <a:ea typeface="Consolas"/>
                <a:cs typeface="Consolas"/>
              </a:rPr>
              <a:t xml:space="preserve">myYaw += myDegreesPerSecond * deltaTime;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myYaw = std::fmod(myYaw, FullRotationDegrees);</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if (Transform* transform = FindTargetTransform())</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const auto rotation = transform-&gt;GetLocalRotationDegrees();</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transform-&gt;SetLocalRotationDegrees(</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        myYaw, rotation.y, rotation.z);</a:t>
            </a:r>
            <a:endParaRPr lang="en-US" sz="1800"/>
          </a:p>
          <a:p>
            <a:pPr algn="l">
              <a:lnSpc>
                <a:spcPts val="2664"/>
              </a:lnSpc>
              <a:spcBef>
                <a:spcPts val="0"/>
              </a:spcBef>
              <a:spcAft>
                <a:spcPts val="0"/>
              </a:spcAft>
            </a:pPr>
            <a:r>
              <a:rPr lang="en-US" sz="1800" b="0" dirty="0">
                <a:solidFill>
                  <a:srgbClr val="CEE5FF"/>
                </a:solidFill>
                <a:latin typeface="Consolas"/>
                <a:ea typeface="Consolas"/>
                <a:cs typeface="Consolas"/>
              </a:rPr>
              <a:t xml:space="preserve">}</a:t>
            </a:r>
            <a:endParaRPr lang="en-US" sz="1800"/>
          </a:p>
        </p:txBody>
      </p:sp>
      <p:sp>
        <p:nvSpPr>
          <p:cNvPr id="4" name="45 degrees/second × 0.1 seconds = 4.5 degrees"/>
          <p:cNvSpPr txBox="1"/>
          <p:nvPr/>
        </p:nvSpPr>
        <p:spPr>
          <a:xfrm>
            <a:off x="609600" y="6284118"/>
            <a:ext cx="4221509"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45 degrees/second × 0.1 seconds = 4.5 degrees</a:t>
            </a:r>
            <a:endParaRPr lang="en-US" sz="1575"/>
          </a:p>
        </p:txBody>
      </p:sp>
      <p:sp>
        <p:nvSpPr>
          <p:cNvPr id="5" name="09"/>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09</a:t>
            </a:r>
            <a:endParaRPr lang="en-US" sz="12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Actor and component transforms">
    <p:bg>
      <p:bgPr>
        <a:solidFill>
          <a:srgbClr val="101724"/>
        </a:solidFill>
        <a:effectLst/>
      </p:bgPr>
    </p:bg>
    <p:spTree>
      <p:nvGrpSpPr>
        <p:cNvPr id="1" name=""/>
        <p:cNvGrpSpPr/>
        <p:nvPr/>
      </p:nvGrpSpPr>
      <p:grpSpPr>
        <a:xfrm>
          <a:off x="0" y="0"/>
          <a:ext cx="0" cy="0"/>
          <a:chOff x="0" y="0"/>
          <a:chExt cx="0" cy="0"/>
        </a:xfrm>
      </p:grpSpPr>
      <p:sp>
        <p:nvSpPr>
          <p:cNvPr id="2" name="Actor and component transforms"/>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Actor and component transforms</a:t>
            </a:r>
            <a:endParaRPr lang="en-US" sz="3600"/>
          </a:p>
        </p:txBody>
      </p:sp>
      <p:sp>
        <p:nvSpPr>
          <p:cNvPr id="3" name="This engine stores rotation as yaw, pitch, roll."/>
          <p:cNvSpPr txBox="1"/>
          <p:nvPr/>
        </p:nvSpPr>
        <p:spPr>
          <a:xfrm>
            <a:off x="609600" y="1302246"/>
            <a:ext cx="10001249" cy="474762"/>
          </a:xfrm>
          <a:prstGeom prst="rect">
            <a:avLst/>
          </a:prstGeom>
          <a:noFill/>
          <a:ln>
            <a:noFill/>
          </a:ln>
        </p:spPr>
        <p:txBody>
          <a:bodyPr wrap="square" lIns="0" tIns="0" rIns="0" bIns="0" anchor="t">
            <a:noAutofit/>
          </a:bodyPr>
          <a:lstStyle/>
          <a:p>
            <a:pPr algn="l">
              <a:lnSpc>
                <a:spcPts val="3139"/>
              </a:lnSpc>
              <a:spcBef>
                <a:spcPts val="0"/>
              </a:spcBef>
              <a:spcAft>
                <a:spcPts val="0"/>
              </a:spcAft>
            </a:pPr>
            <a:r>
              <a:rPr lang="en-US" sz="2325" b="0" dirty="0">
                <a:solidFill>
                  <a:srgbClr val="F2F4F8"/>
                </a:solidFill>
                <a:latin typeface="Segoe UI"/>
                <a:ea typeface="Segoe UI"/>
                <a:cs typeface="Segoe UI"/>
              </a:rPr>
              <a:t xml:space="preserve">This engine stores rotation as yaw, pitch, roll.</a:t>
            </a:r>
            <a:endParaRPr lang="en-US" sz="2325"/>
          </a:p>
        </p:txBody>
      </p:sp>
      <p:sp>
        <p:nvSpPr>
          <p:cNvPr id="4" name="Vector x: yaw about Y · y: pitch about X · z: roll about Z"/>
          <p:cNvSpPr txBox="1"/>
          <p:nvPr/>
        </p:nvSpPr>
        <p:spPr>
          <a:xfrm>
            <a:off x="962025" y="1986558"/>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Vector x: yaw about Y · y: pitch about X · z: roll about Z</a:t>
            </a:r>
            <a:endParaRPr lang="en-US" sz="2100"/>
          </a:p>
        </p:txBody>
      </p:sp>
      <p:sp>
        <p:nvSpPr>
          <p:cNvPr id="5" name="•"/>
          <p:cNvSpPr txBox="1"/>
          <p:nvPr/>
        </p:nvSpPr>
        <p:spPr>
          <a:xfrm>
            <a:off x="523875" y="1986558"/>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6" name="No target name: rotate the actor"/>
          <p:cNvSpPr txBox="1"/>
          <p:nvPr/>
        </p:nvSpPr>
        <p:spPr>
          <a:xfrm>
            <a:off x="962025" y="2508051"/>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No target name: rotate the actor</a:t>
            </a:r>
            <a:endParaRPr lang="en-US" sz="2100"/>
          </a:p>
        </p:txBody>
      </p:sp>
      <p:sp>
        <p:nvSpPr>
          <p:cNvPr id="7" name="•"/>
          <p:cNvSpPr txBox="1"/>
          <p:nvPr/>
        </p:nvSpPr>
        <p:spPr>
          <a:xfrm>
            <a:off x="523875" y="2508051"/>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8" name="Named SceneComponent: rotate its actor-relative offset"/>
          <p:cNvSpPr txBox="1"/>
          <p:nvPr/>
        </p:nvSpPr>
        <p:spPr>
          <a:xfrm>
            <a:off x="962025" y="3029545"/>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Named SceneComponent: rotate its actor-relative offset</a:t>
            </a:r>
            <a:endParaRPr lang="en-US" sz="2100"/>
          </a:p>
        </p:txBody>
      </p:sp>
      <p:sp>
        <p:nvSpPr>
          <p:cNvPr id="9" name="•"/>
          <p:cNvSpPr txBox="1"/>
          <p:nvPr/>
        </p:nvSpPr>
        <p:spPr>
          <a:xfrm>
            <a:off x="523875" y="3029545"/>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10" name="A missing or wrong-type named target receives no transform update"/>
          <p:cNvSpPr txBox="1"/>
          <p:nvPr/>
        </p:nvSpPr>
        <p:spPr>
          <a:xfrm>
            <a:off x="609600" y="6284118"/>
            <a:ext cx="6063555"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A missing or wrong-type named target receives no transform update</a:t>
            </a:r>
            <a:endParaRPr lang="en-US" sz="1575"/>
          </a:p>
        </p:txBody>
      </p:sp>
      <p:sp>
        <p:nvSpPr>
          <p:cNvPr id="11" name="10"/>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10</a:t>
            </a:r>
            <a:endParaRPr lang="en-US" sz="12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cene construction and activation">
    <p:bg>
      <p:bgPr>
        <a:solidFill>
          <a:srgbClr val="101724"/>
        </a:solidFill>
        <a:effectLst/>
      </p:bgPr>
    </p:bg>
    <p:spTree>
      <p:nvGrpSpPr>
        <p:cNvPr id="1" name=""/>
        <p:cNvGrpSpPr/>
        <p:nvPr/>
      </p:nvGrpSpPr>
      <p:grpSpPr>
        <a:xfrm>
          <a:off x="0" y="0"/>
          <a:ext cx="0" cy="0"/>
          <a:chOff x="0" y="0"/>
          <a:chExt cx="0" cy="0"/>
        </a:xfrm>
      </p:grpSpPr>
      <p:sp>
        <p:nvSpPr>
          <p:cNvPr id="2" name="Scene construction and activation"/>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Scene construction and activation</a:t>
            </a:r>
            <a:endParaRPr lang="en-US" sz="3600"/>
          </a:p>
        </p:txBody>
      </p:sp>
      <p:sp>
        <p:nvSpPr>
          <p:cNvPr id="3" name="Exported scene → UnrealSceneImporter → SceneData"/>
          <p:cNvSpPr txBox="1"/>
          <p:nvPr/>
        </p:nvSpPr>
        <p:spPr>
          <a:xfrm>
            <a:off x="1200150" y="15308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Exported scene → UnrealSceneImporter → SceneData</a:t>
            </a:r>
            <a:endParaRPr lang="en-US" sz="2250"/>
          </a:p>
        </p:txBody>
      </p:sp>
      <p:sp>
        <p:nvSpPr>
          <p:cNvPr id="4" name="1."/>
          <p:cNvSpPr txBox="1"/>
          <p:nvPr/>
        </p:nvSpPr>
        <p:spPr>
          <a:xfrm>
            <a:off x="762000" y="15308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1.</a:t>
            </a:r>
            <a:endParaRPr lang="en-US" sz="2250"/>
          </a:p>
        </p:txBody>
      </p:sp>
      <p:sp>
        <p:nvSpPr>
          <p:cNvPr id="5" name="World builder creates the candidate World"/>
          <p:cNvSpPr txBox="1"/>
          <p:nvPr/>
        </p:nvSpPr>
        <p:spPr>
          <a:xfrm>
            <a:off x="1200150" y="213092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World builder creates the candidate World</a:t>
            </a:r>
            <a:endParaRPr lang="en-US" sz="2250"/>
          </a:p>
        </p:txBody>
      </p:sp>
      <p:sp>
        <p:nvSpPr>
          <p:cNvPr id="6" name="2."/>
          <p:cNvSpPr txBox="1"/>
          <p:nvPr/>
        </p:nvSpPr>
        <p:spPr>
          <a:xfrm>
            <a:off x="762000" y="213092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2.</a:t>
            </a:r>
            <a:endParaRPr lang="en-US" sz="2250"/>
          </a:p>
        </p:txBody>
      </p:sp>
      <p:sp>
        <p:nvSpPr>
          <p:cNvPr id="7" name="Game::ConfigureWorld adds game behavior"/>
          <p:cNvSpPr txBox="1"/>
          <p:nvPr/>
        </p:nvSpPr>
        <p:spPr>
          <a:xfrm>
            <a:off x="1200150" y="273099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Game::ConfigureWorld adds game behavior</a:t>
            </a:r>
            <a:endParaRPr lang="en-US" sz="2250"/>
          </a:p>
        </p:txBody>
      </p:sp>
      <p:sp>
        <p:nvSpPr>
          <p:cNvPr id="8" name="3."/>
          <p:cNvSpPr txBox="1"/>
          <p:nvPr/>
        </p:nvSpPr>
        <p:spPr>
          <a:xfrm>
            <a:off x="762000" y="273099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3.</a:t>
            </a:r>
            <a:endParaRPr lang="en-US" sz="2250"/>
          </a:p>
        </p:txBody>
      </p:sp>
      <p:sp>
        <p:nvSpPr>
          <p:cNvPr id="9" name="GameApplication replaces the current World"/>
          <p:cNvSpPr txBox="1"/>
          <p:nvPr/>
        </p:nvSpPr>
        <p:spPr>
          <a:xfrm>
            <a:off x="1200150" y="333107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GameApplication replaces the current World</a:t>
            </a:r>
            <a:endParaRPr lang="en-US" sz="2250"/>
          </a:p>
        </p:txBody>
      </p:sp>
      <p:sp>
        <p:nvSpPr>
          <p:cNvPr id="10" name="4."/>
          <p:cNvSpPr txBox="1"/>
          <p:nvPr/>
        </p:nvSpPr>
        <p:spPr>
          <a:xfrm>
            <a:off x="762000" y="333107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4.</a:t>
            </a:r>
            <a:endParaRPr lang="en-US" sz="2250"/>
          </a:p>
        </p:txBody>
      </p:sp>
      <p:sp>
        <p:nvSpPr>
          <p:cNvPr id="11" name="World::BeginPlay initializes components"/>
          <p:cNvSpPr txBox="1"/>
          <p:nvPr/>
        </p:nvSpPr>
        <p:spPr>
          <a:xfrm>
            <a:off x="1200150" y="39311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World::BeginPlay initializes components</a:t>
            </a:r>
            <a:endParaRPr lang="en-US" sz="2250"/>
          </a:p>
        </p:txBody>
      </p:sp>
      <p:sp>
        <p:nvSpPr>
          <p:cNvPr id="12" name="5."/>
          <p:cNvSpPr txBox="1"/>
          <p:nvPr/>
        </p:nvSpPr>
        <p:spPr>
          <a:xfrm>
            <a:off x="762000" y="39311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5.</a:t>
            </a:r>
            <a:endParaRPr lang="en-US" sz="2250"/>
          </a:p>
        </p:txBody>
      </p:sp>
      <p:sp>
        <p:nvSpPr>
          <p:cNvPr id="13" name="Configure settings before activation; reacquire pointers after reload"/>
          <p:cNvSpPr txBox="1"/>
          <p:nvPr/>
        </p:nvSpPr>
        <p:spPr>
          <a:xfrm>
            <a:off x="609600" y="6284118"/>
            <a:ext cx="5928270"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Configure settings before activation; reacquire pointers after reload</a:t>
            </a:r>
            <a:endParaRPr lang="en-US" sz="1575"/>
          </a:p>
        </p:txBody>
      </p:sp>
      <p:sp>
        <p:nvSpPr>
          <p:cNvPr id="14" name="11"/>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11</a:t>
            </a:r>
            <a:endParaRPr lang="en-US" sz="12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One frame in the current runtime">
    <p:bg>
      <p:bgPr>
        <a:solidFill>
          <a:srgbClr val="101724"/>
        </a:solidFill>
        <a:effectLst/>
      </p:bgPr>
    </p:bg>
    <p:spTree>
      <p:nvGrpSpPr>
        <p:cNvPr id="1" name=""/>
        <p:cNvGrpSpPr/>
        <p:nvPr/>
      </p:nvGrpSpPr>
      <p:grpSpPr>
        <a:xfrm>
          <a:off x="0" y="0"/>
          <a:ext cx="0" cy="0"/>
          <a:chOff x="0" y="0"/>
          <a:chExt cx="0" cy="0"/>
        </a:xfrm>
      </p:grpSpPr>
      <p:sp>
        <p:nvSpPr>
          <p:cNvPr id="2" name="One frame in the current runtime"/>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One frame in the current runtime</a:t>
            </a:r>
            <a:endParaRPr lang="en-US" sz="3600"/>
          </a:p>
        </p:txBody>
      </p:sp>
      <p:sp>
        <p:nvSpPr>
          <p:cNvPr id="3" name="Messages, scene requests, resize and delta time"/>
          <p:cNvSpPr txBox="1"/>
          <p:nvPr/>
        </p:nvSpPr>
        <p:spPr>
          <a:xfrm>
            <a:off x="1200150" y="15308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Messages, scene requests, resize and delta time</a:t>
            </a:r>
            <a:endParaRPr lang="en-US" sz="2250"/>
          </a:p>
        </p:txBody>
      </p:sp>
      <p:sp>
        <p:nvSpPr>
          <p:cNvPr id="4" name="1."/>
          <p:cNvSpPr txBox="1"/>
          <p:nvPr/>
        </p:nvSpPr>
        <p:spPr>
          <a:xfrm>
            <a:off x="762000" y="15308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1.</a:t>
            </a:r>
            <a:endParaRPr lang="en-US" sz="2250"/>
          </a:p>
        </p:txBody>
      </p:sp>
      <p:sp>
        <p:nvSpPr>
          <p:cNvPr id="5" name="InputMapper → application controls"/>
          <p:cNvSpPr txBox="1"/>
          <p:nvPr/>
        </p:nvSpPr>
        <p:spPr>
          <a:xfrm>
            <a:off x="1200150" y="213092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InputMapper → application controls</a:t>
            </a:r>
            <a:endParaRPr lang="en-US" sz="2250"/>
          </a:p>
        </p:txBody>
      </p:sp>
      <p:sp>
        <p:nvSpPr>
          <p:cNvPr id="6" name="2."/>
          <p:cNvSpPr txBox="1"/>
          <p:nvPr/>
        </p:nvSpPr>
        <p:spPr>
          <a:xfrm>
            <a:off x="762000" y="213092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2.</a:t>
            </a:r>
            <a:endParaRPr lang="en-US" sz="2250"/>
          </a:p>
        </p:txBody>
      </p:sp>
      <p:sp>
        <p:nvSpPr>
          <p:cNvPr id="7" name="Game::Update → World::Update"/>
          <p:cNvSpPr txBox="1"/>
          <p:nvPr/>
        </p:nvSpPr>
        <p:spPr>
          <a:xfrm>
            <a:off x="1200150" y="273099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Game::Update → World::Update</a:t>
            </a:r>
            <a:endParaRPr lang="en-US" sz="2250"/>
          </a:p>
        </p:txBody>
      </p:sp>
      <p:sp>
        <p:nvSpPr>
          <p:cNvPr id="8" name="3."/>
          <p:cNvSpPr txBox="1"/>
          <p:nvPr/>
        </p:nvSpPr>
        <p:spPr>
          <a:xfrm>
            <a:off x="762000" y="273099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3.</a:t>
            </a:r>
            <a:endParaRPr lang="en-US" sz="2250"/>
          </a:p>
        </p:txBody>
      </p:sp>
      <p:sp>
        <p:nvSpPr>
          <p:cNvPr id="9" name="Audio → coroutine scheduler"/>
          <p:cNvSpPr txBox="1"/>
          <p:nvPr/>
        </p:nvSpPr>
        <p:spPr>
          <a:xfrm>
            <a:off x="1200150" y="333107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Audio → coroutine scheduler</a:t>
            </a:r>
            <a:endParaRPr lang="en-US" sz="2250"/>
          </a:p>
        </p:txBody>
      </p:sp>
      <p:sp>
        <p:nvSpPr>
          <p:cNvPr id="10" name="4."/>
          <p:cNvSpPr txBox="1"/>
          <p:nvPr/>
        </p:nvSpPr>
        <p:spPr>
          <a:xfrm>
            <a:off x="762000" y="333107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4.</a:t>
            </a:r>
            <a:endParaRPr lang="en-US" sz="2250"/>
          </a:p>
        </p:txBody>
      </p:sp>
      <p:sp>
        <p:nvSpPr>
          <p:cNvPr id="11" name="Render snapshot → render and present"/>
          <p:cNvSpPr txBox="1"/>
          <p:nvPr/>
        </p:nvSpPr>
        <p:spPr>
          <a:xfrm>
            <a:off x="1200150" y="39311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Render snapshot → render and present</a:t>
            </a:r>
            <a:endParaRPr lang="en-US" sz="2250"/>
          </a:p>
        </p:txBody>
      </p:sp>
      <p:sp>
        <p:nvSpPr>
          <p:cNvPr id="12" name="5."/>
          <p:cNvSpPr txBox="1"/>
          <p:nvPr/>
        </p:nvSpPr>
        <p:spPr>
          <a:xfrm>
            <a:off x="762000" y="39311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5.</a:t>
            </a:r>
            <a:endParaRPr lang="en-US" sz="2250"/>
          </a:p>
        </p:txBody>
      </p:sp>
      <p:sp>
        <p:nvSpPr>
          <p:cNvPr id="13" name="Your component Update runs inside World::Update"/>
          <p:cNvSpPr txBox="1"/>
          <p:nvPr/>
        </p:nvSpPr>
        <p:spPr>
          <a:xfrm>
            <a:off x="609600" y="6284118"/>
            <a:ext cx="4493269"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Your component Update runs inside World::Update</a:t>
            </a:r>
            <a:endParaRPr lang="en-US" sz="1575"/>
          </a:p>
        </p:txBody>
      </p:sp>
      <p:sp>
        <p:nvSpPr>
          <p:cNvPr id="14" name="12"/>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12</a:t>
            </a:r>
            <a:endParaRPr lang="en-US" sz="12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Integrating team features">
    <p:bg>
      <p:bgPr>
        <a:solidFill>
          <a:srgbClr val="101724"/>
        </a:solidFill>
        <a:effectLst/>
      </p:bgPr>
    </p:bg>
    <p:spTree>
      <p:nvGrpSpPr>
        <p:cNvPr id="1" name=""/>
        <p:cNvGrpSpPr/>
        <p:nvPr/>
      </p:nvGrpSpPr>
      <p:grpSpPr>
        <a:xfrm>
          <a:off x="0" y="0"/>
          <a:ext cx="0" cy="0"/>
          <a:chOff x="0" y="0"/>
          <a:chExt cx="0" cy="0"/>
        </a:xfrm>
      </p:grpSpPr>
      <p:sp>
        <p:nvSpPr>
          <p:cNvPr id="2" name="Integrating team features"/>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Integrating team features</a:t>
            </a:r>
            <a:endParaRPr lang="en-US" sz="3600"/>
          </a:p>
        </p:txBody>
      </p:sp>
      <p:sp>
        <p:nvSpPr>
          <p:cNvPr id="3" name="Player"/>
          <p:cNvSpPr txBox="1"/>
          <p:nvPr/>
        </p:nvSpPr>
        <p:spPr>
          <a:xfrm>
            <a:off x="609600" y="1559421"/>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Player</a:t>
            </a:r>
            <a:endParaRPr lang="en-US" sz="2025"/>
          </a:p>
        </p:txBody>
      </p:sp>
      <p:sp>
        <p:nvSpPr>
          <p:cNvPr id="4" name="Controller records intent; movement changes the actor"/>
          <p:cNvSpPr txBox="1"/>
          <p:nvPr/>
        </p:nvSpPr>
        <p:spPr>
          <a:xfrm>
            <a:off x="2971800" y="1559421"/>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Controller records intent; movement changes the actor</a:t>
            </a:r>
            <a:endParaRPr lang="en-US" sz="2025"/>
          </a:p>
        </p:txBody>
      </p:sp>
      <p:sp>
        <p:nvSpPr>
          <p:cNvPr id="5" name="Enemy"/>
          <p:cNvSpPr txBox="1"/>
          <p:nvPr/>
        </p:nvSpPr>
        <p:spPr>
          <a:xfrm>
            <a:off x="609600" y="2316063"/>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Enemy</a:t>
            </a:r>
            <a:endParaRPr lang="en-US" sz="2025"/>
          </a:p>
        </p:txBody>
      </p:sp>
      <p:sp>
        <p:nvSpPr>
          <p:cNvPr id="6" name="A component connects decisions to movement and animation"/>
          <p:cNvSpPr txBox="1"/>
          <p:nvPr/>
        </p:nvSpPr>
        <p:spPr>
          <a:xfrm>
            <a:off x="2971800" y="2316063"/>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A component connects decisions to movement and animation</a:t>
            </a:r>
            <a:endParaRPr lang="en-US" sz="2025"/>
          </a:p>
        </p:txBody>
      </p:sp>
      <p:sp>
        <p:nvSpPr>
          <p:cNvPr id="7" name="Navmesh"/>
          <p:cNvSpPr txBox="1"/>
          <p:nvPr/>
        </p:nvSpPr>
        <p:spPr>
          <a:xfrm>
            <a:off x="609600" y="3072705"/>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Navmesh</a:t>
            </a:r>
            <a:endParaRPr lang="en-US" sz="2025"/>
          </a:p>
        </p:txBody>
      </p:sp>
      <p:sp>
        <p:nvSpPr>
          <p:cNvPr id="8" name="Pathfinding stays separate; a component requests and follows paths"/>
          <p:cNvSpPr txBox="1"/>
          <p:nvPr/>
        </p:nvSpPr>
        <p:spPr>
          <a:xfrm>
            <a:off x="2971800" y="3072705"/>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Pathfinding stays separate; a component requests and follows paths</a:t>
            </a:r>
            <a:endParaRPr lang="en-US" sz="2025"/>
          </a:p>
        </p:txBody>
      </p:sp>
      <p:sp>
        <p:nvSpPr>
          <p:cNvPr id="9" name="VFX"/>
          <p:cNvSpPr txBox="1"/>
          <p:nvPr/>
        </p:nvSpPr>
        <p:spPr>
          <a:xfrm>
            <a:off x="609600" y="3829347"/>
            <a:ext cx="2133600" cy="423267"/>
          </a:xfrm>
          <a:prstGeom prst="rect">
            <a:avLst/>
          </a:prstGeom>
          <a:noFill/>
          <a:ln>
            <a:noFill/>
          </a:ln>
        </p:spPr>
        <p:txBody>
          <a:bodyPr wrap="square" lIns="0" tIns="0" rIns="0" bIns="0" anchor="t">
            <a:noAutofit/>
          </a:bodyPr>
          <a:lstStyle/>
          <a:p>
            <a:pPr algn="l">
              <a:lnSpc>
                <a:spcPts val="2430"/>
              </a:lnSpc>
              <a:spcBef>
                <a:spcPts val="0"/>
              </a:spcBef>
              <a:spcAft>
                <a:spcPts val="0"/>
              </a:spcAft>
            </a:pPr>
            <a:r>
              <a:rPr lang="en-US" sz="2025" b="1" dirty="0">
                <a:solidFill>
                  <a:srgbClr val="FFBD75"/>
                </a:solidFill>
                <a:latin typeface="Segoe UI"/>
                <a:ea typeface="Segoe UI"/>
                <a:cs typeface="Segoe UI"/>
              </a:rPr>
              <a:t xml:space="preserve">VFX</a:t>
            </a:r>
            <a:endParaRPr lang="en-US" sz="2025"/>
          </a:p>
        </p:txBody>
      </p:sp>
      <p:sp>
        <p:nvSpPr>
          <p:cNvPr id="10" name="A component connects the effect to actor transforms and lifecycle"/>
          <p:cNvSpPr txBox="1"/>
          <p:nvPr/>
        </p:nvSpPr>
        <p:spPr>
          <a:xfrm>
            <a:off x="2971800" y="3829347"/>
            <a:ext cx="8610598" cy="423267"/>
          </a:xfrm>
          <a:prstGeom prst="rect">
            <a:avLst/>
          </a:prstGeom>
          <a:noFill/>
          <a:ln>
            <a:noFill/>
          </a:ln>
        </p:spPr>
        <p:txBody>
          <a:bodyPr wrap="square" lIns="0" tIns="0" rIns="0" bIns="0" anchor="t">
            <a:noAutofit/>
          </a:bodyPr>
          <a:lstStyle/>
          <a:p>
            <a:pPr algn="l">
              <a:lnSpc>
                <a:spcPts val="2734"/>
              </a:lnSpc>
              <a:spcBef>
                <a:spcPts val="0"/>
              </a:spcBef>
              <a:spcAft>
                <a:spcPts val="0"/>
              </a:spcAft>
            </a:pPr>
            <a:r>
              <a:rPr lang="en-US" sz="2025" b="0" dirty="0">
                <a:solidFill>
                  <a:srgbClr val="F2F4F8"/>
                </a:solidFill>
                <a:latin typeface="Segoe UI"/>
                <a:ea typeface="Segoe UI"/>
                <a:cs typeface="Segoe UI"/>
              </a:rPr>
              <a:t xml:space="preserve">A component connects the effect to actor transforms and lifecycle</a:t>
            </a:r>
            <a:endParaRPr lang="en-US" sz="2025"/>
          </a:p>
        </p:txBody>
      </p:sp>
      <p:sp>
        <p:nvSpPr>
          <p:cNvPr id="11" name="Design examples — these gameplay features are not implemented by this "/>
          <p:cNvSpPr txBox="1"/>
          <p:nvPr/>
        </p:nvSpPr>
        <p:spPr>
          <a:xfrm>
            <a:off x="609600" y="6284118"/>
            <a:ext cx="7069335"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Design examples — these gameplay features are not implemented by this demo</a:t>
            </a:r>
            <a:endParaRPr lang="en-US" sz="1575"/>
          </a:p>
        </p:txBody>
      </p:sp>
      <p:sp>
        <p:nvSpPr>
          <p:cNvPr id="12" name="13"/>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13</a:t>
            </a:r>
            <a:endParaRPr lang="en-US" sz="12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Unreal authoring and factory — TODO">
    <p:bg>
      <p:bgPr>
        <a:solidFill>
          <a:srgbClr val="101724"/>
        </a:solidFill>
        <a:effectLst/>
      </p:bgPr>
    </p:bg>
    <p:spTree>
      <p:nvGrpSpPr>
        <p:cNvPr id="1" name=""/>
        <p:cNvGrpSpPr/>
        <p:nvPr/>
      </p:nvGrpSpPr>
      <p:grpSpPr>
        <a:xfrm>
          <a:off x="0" y="0"/>
          <a:ext cx="0" cy="0"/>
          <a:chOff x="0" y="0"/>
          <a:chExt cx="0" cy="0"/>
        </a:xfrm>
      </p:grpSpPr>
      <p:sp>
        <p:nvSpPr>
          <p:cNvPr id="2" name="Unreal authoring and factory — TODO"/>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Unreal authoring and factory — TODO</a:t>
            </a:r>
            <a:endParaRPr lang="en-US" sz="3600"/>
          </a:p>
        </p:txBody>
      </p:sp>
      <p:sp>
        <p:nvSpPr>
          <p:cNvPr id="3" name="Complete this section after inspecting a real custom export at school."/>
          <p:cNvSpPr txBox="1"/>
          <p:nvPr/>
        </p:nvSpPr>
        <p:spPr>
          <a:xfrm>
            <a:off x="609600" y="1302246"/>
            <a:ext cx="10001249" cy="474762"/>
          </a:xfrm>
          <a:prstGeom prst="rect">
            <a:avLst/>
          </a:prstGeom>
          <a:noFill/>
          <a:ln>
            <a:noFill/>
          </a:ln>
        </p:spPr>
        <p:txBody>
          <a:bodyPr wrap="square" lIns="0" tIns="0" rIns="0" bIns="0" anchor="t">
            <a:noAutofit/>
          </a:bodyPr>
          <a:lstStyle/>
          <a:p>
            <a:pPr algn="l">
              <a:lnSpc>
                <a:spcPts val="3139"/>
              </a:lnSpc>
              <a:spcBef>
                <a:spcPts val="0"/>
              </a:spcBef>
              <a:spcAft>
                <a:spcPts val="0"/>
              </a:spcAft>
            </a:pPr>
            <a:r>
              <a:rPr lang="en-US" sz="2325" b="0" dirty="0">
                <a:solidFill>
                  <a:srgbClr val="F2F4F8"/>
                </a:solidFill>
                <a:latin typeface="Segoe UI"/>
                <a:ea typeface="Segoe UI"/>
                <a:cs typeface="Segoe UI"/>
              </a:rPr>
              <a:t xml:space="preserve">Complete this section after inspecting a real custom export at school.</a:t>
            </a:r>
            <a:endParaRPr lang="en-US" sz="2325"/>
          </a:p>
        </p:txBody>
      </p:sp>
      <p:sp>
        <p:nvSpPr>
          <p:cNvPr id="4" name="Verify class identity, instance name, and encoded settings"/>
          <p:cNvSpPr txBox="1"/>
          <p:nvPr/>
        </p:nvSpPr>
        <p:spPr>
          <a:xfrm>
            <a:off x="962025" y="1986558"/>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Verify class identity, instance name, and encoded settings</a:t>
            </a:r>
            <a:endParaRPr lang="en-US" sz="2100"/>
          </a:p>
        </p:txBody>
      </p:sp>
      <p:sp>
        <p:nvSpPr>
          <p:cNvPr id="5" name="•"/>
          <p:cNvSpPr txBox="1"/>
          <p:nvPr/>
        </p:nvSpPr>
        <p:spPr>
          <a:xfrm>
            <a:off x="523875" y="1986558"/>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6" name="Preserve settings through importer conversion and SceneData"/>
          <p:cNvSpPr txBox="1"/>
          <p:nvPr/>
        </p:nvSpPr>
        <p:spPr>
          <a:xfrm>
            <a:off x="962025" y="2508051"/>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Preserve settings through importer conversion and SceneData</a:t>
            </a:r>
            <a:endParaRPr lang="en-US" sz="2100"/>
          </a:p>
        </p:txBody>
      </p:sp>
      <p:sp>
        <p:nvSpPr>
          <p:cNvPr id="7" name="•"/>
          <p:cNvSpPr txBox="1"/>
          <p:nvPr/>
        </p:nvSpPr>
        <p:spPr>
          <a:xfrm>
            <a:off x="523875" y="2508051"/>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8" name="Register game creators and configure components before BeginPlay"/>
          <p:cNvSpPr txBox="1"/>
          <p:nvPr/>
        </p:nvSpPr>
        <p:spPr>
          <a:xfrm>
            <a:off x="962025" y="3029545"/>
            <a:ext cx="10620373" cy="454819"/>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2F4F8"/>
                </a:solidFill>
                <a:latin typeface="Segoe UI"/>
                <a:ea typeface="Segoe UI"/>
                <a:cs typeface="Segoe UI"/>
              </a:rPr>
              <a:t xml:space="preserve">Register game creators and configure components before BeginPlay</a:t>
            </a:r>
            <a:endParaRPr lang="en-US" sz="2100"/>
          </a:p>
        </p:txBody>
      </p:sp>
      <p:sp>
        <p:nvSpPr>
          <p:cNvPr id="9" name="•"/>
          <p:cNvSpPr txBox="1"/>
          <p:nvPr/>
        </p:nvSpPr>
        <p:spPr>
          <a:xfrm>
            <a:off x="523875" y="3029545"/>
            <a:ext cx="323850" cy="476250"/>
          </a:xfrm>
          <a:prstGeom prst="rect">
            <a:avLst/>
          </a:prstGeom>
          <a:noFill/>
          <a:ln>
            <a:noFill/>
          </a:ln>
        </p:spPr>
        <p:txBody>
          <a:bodyPr wrap="square" lIns="0" tIns="0" rIns="0" bIns="0" anchor="t">
            <a:noAutofit/>
          </a:bodyPr>
          <a:lstStyle/>
          <a:p>
            <a:pPr algn="l">
              <a:lnSpc>
                <a:spcPts val="2982"/>
              </a:lnSpc>
              <a:spcBef>
                <a:spcPts val="0"/>
              </a:spcBef>
              <a:spcAft>
                <a:spcPts val="0"/>
              </a:spcAft>
            </a:pPr>
            <a:r>
              <a:rPr lang="en-US" sz="2100" b="0" dirty="0">
                <a:solidFill>
                  <a:srgbClr val="FFBD75"/>
                </a:solidFill>
                <a:latin typeface="Segoe UI"/>
                <a:ea typeface="Segoe UI"/>
                <a:cs typeface="Segoe UI"/>
              </a:rPr>
              <a:t xml:space="preserve">•</a:t>
            </a:r>
            <a:endParaRPr lang="en-US" sz="2100"/>
          </a:p>
        </p:txBody>
      </p:sp>
      <p:sp>
        <p:nvSpPr>
          <p:cNvPr id="10" name="Replace the manual attachment after the mapping works"/>
          <p:cNvSpPr txBox="1"/>
          <p:nvPr/>
        </p:nvSpPr>
        <p:spPr>
          <a:xfrm>
            <a:off x="609600" y="6284118"/>
            <a:ext cx="5001816"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Replace the manual attachment after the mapping works</a:t>
            </a:r>
            <a:endParaRPr lang="en-US" sz="1575"/>
          </a:p>
        </p:txBody>
      </p:sp>
      <p:sp>
        <p:nvSpPr>
          <p:cNvPr id="11" name="14"/>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14</a:t>
            </a:r>
            <a:endParaRPr lang="en-US" sz="12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Gameplay implementation checklist">
    <p:bg>
      <p:bgPr>
        <a:solidFill>
          <a:srgbClr val="101724"/>
        </a:solidFill>
        <a:effectLst/>
      </p:bgPr>
    </p:bg>
    <p:spTree>
      <p:nvGrpSpPr>
        <p:cNvPr id="1" name=""/>
        <p:cNvGrpSpPr/>
        <p:nvPr/>
      </p:nvGrpSpPr>
      <p:grpSpPr>
        <a:xfrm>
          <a:off x="0" y="0"/>
          <a:ext cx="0" cy="0"/>
          <a:chOff x="0" y="0"/>
          <a:chExt cx="0" cy="0"/>
        </a:xfrm>
      </p:grpSpPr>
      <p:sp>
        <p:nvSpPr>
          <p:cNvPr id="2" name="Gameplay implementation checklist"/>
          <p:cNvSpPr txBox="1"/>
          <p:nvPr/>
        </p:nvSpPr>
        <p:spPr>
          <a:xfrm>
            <a:off x="609600" y="514350"/>
            <a:ext cx="10972798" cy="597396"/>
          </a:xfrm>
          <a:prstGeom prst="rect">
            <a:avLst/>
          </a:prstGeom>
          <a:noFill/>
          <a:ln>
            <a:noFill/>
          </a:ln>
        </p:spPr>
        <p:txBody>
          <a:bodyPr wrap="square" lIns="0" tIns="0" rIns="0" bIns="0" anchor="t">
            <a:noAutofit/>
          </a:bodyPr>
          <a:lstStyle/>
          <a:p>
            <a:pPr algn="l">
              <a:lnSpc>
                <a:spcPts val="4104"/>
              </a:lnSpc>
              <a:spcBef>
                <a:spcPts val="0"/>
              </a:spcBef>
              <a:spcAft>
                <a:spcPts val="0"/>
              </a:spcAft>
            </a:pPr>
            <a:r>
              <a:rPr lang="en-US" sz="3600" b="1" dirty="0" spc="-98">
                <a:solidFill>
                  <a:srgbClr val="F2F4F8"/>
                </a:solidFill>
                <a:latin typeface="Segoe UI"/>
                <a:ea typeface="Segoe UI"/>
                <a:cs typeface="Segoe UI"/>
              </a:rPr>
              <a:t xml:space="preserve">Gameplay implementation checklist</a:t>
            </a:r>
            <a:endParaRPr lang="en-US" sz="3600"/>
          </a:p>
        </p:txBody>
      </p:sp>
      <p:sp>
        <p:nvSpPr>
          <p:cNvPr id="3" name="Create the game class and include it in the build"/>
          <p:cNvSpPr txBox="1"/>
          <p:nvPr/>
        </p:nvSpPr>
        <p:spPr>
          <a:xfrm>
            <a:off x="1200150" y="15308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Create the game class and include it in the build</a:t>
            </a:r>
            <a:endParaRPr lang="en-US" sz="2250"/>
          </a:p>
        </p:txBody>
      </p:sp>
      <p:sp>
        <p:nvSpPr>
          <p:cNvPr id="4" name="1."/>
          <p:cNvSpPr txBox="1"/>
          <p:nvPr/>
        </p:nvSpPr>
        <p:spPr>
          <a:xfrm>
            <a:off x="762000" y="15308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1.</a:t>
            </a:r>
            <a:endParaRPr lang="en-US" sz="2250"/>
          </a:p>
        </p:txBody>
      </p:sp>
      <p:sp>
        <p:nvSpPr>
          <p:cNvPr id="5" name="Find or spawn its actor; reuse engine components"/>
          <p:cNvSpPr txBox="1"/>
          <p:nvPr/>
        </p:nvSpPr>
        <p:spPr>
          <a:xfrm>
            <a:off x="1200150" y="213092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Find or spawn its actor; reuse engine components</a:t>
            </a:r>
            <a:endParaRPr lang="en-US" sz="2250"/>
          </a:p>
        </p:txBody>
      </p:sp>
      <p:sp>
        <p:nvSpPr>
          <p:cNvPr id="6" name="2."/>
          <p:cNvSpPr txBox="1"/>
          <p:nvPr/>
        </p:nvSpPr>
        <p:spPr>
          <a:xfrm>
            <a:off x="762000" y="213092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2.</a:t>
            </a:r>
            <a:endParaRPr lang="en-US" sz="2250"/>
          </a:p>
        </p:txBody>
      </p:sp>
      <p:sp>
        <p:nvSpPr>
          <p:cNvPr id="7" name="Attach, configure, and resolve dependencies"/>
          <p:cNvSpPr txBox="1"/>
          <p:nvPr/>
        </p:nvSpPr>
        <p:spPr>
          <a:xfrm>
            <a:off x="1200150" y="273099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Attach, configure, and resolve dependencies</a:t>
            </a:r>
            <a:endParaRPr lang="en-US" sz="2250"/>
          </a:p>
        </p:txBody>
      </p:sp>
      <p:sp>
        <p:nvSpPr>
          <p:cNvPr id="8" name="3."/>
          <p:cNvSpPr txBox="1"/>
          <p:nvPr/>
        </p:nvSpPr>
        <p:spPr>
          <a:xfrm>
            <a:off x="762000" y="273099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3.</a:t>
            </a:r>
            <a:endParaRPr lang="en-US" sz="2250"/>
          </a:p>
        </p:txBody>
      </p:sp>
      <p:sp>
        <p:nvSpPr>
          <p:cNvPr id="9" name="Implement behavior and subscription cleanup"/>
          <p:cNvSpPr txBox="1"/>
          <p:nvPr/>
        </p:nvSpPr>
        <p:spPr>
          <a:xfrm>
            <a:off x="1200150" y="3331071"/>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Implement behavior and subscription cleanup</a:t>
            </a:r>
            <a:endParaRPr lang="en-US" sz="2250"/>
          </a:p>
        </p:txBody>
      </p:sp>
      <p:sp>
        <p:nvSpPr>
          <p:cNvPr id="10" name="4."/>
          <p:cNvSpPr txBox="1"/>
          <p:nvPr/>
        </p:nvSpPr>
        <p:spPr>
          <a:xfrm>
            <a:off x="762000" y="3331071"/>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4.</a:t>
            </a:r>
            <a:endParaRPr lang="en-US" sz="2250"/>
          </a:p>
        </p:txBody>
      </p:sp>
      <p:sp>
        <p:nvSpPr>
          <p:cNvPr id="11" name="Verify behavior, missing dependencies, and scene reload"/>
          <p:cNvSpPr txBox="1"/>
          <p:nvPr/>
        </p:nvSpPr>
        <p:spPr>
          <a:xfrm>
            <a:off x="1200150" y="3931146"/>
            <a:ext cx="10382248" cy="44767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0" dirty="0">
                <a:solidFill>
                  <a:srgbClr val="F2F4F8"/>
                </a:solidFill>
                <a:latin typeface="Segoe UI"/>
                <a:ea typeface="Segoe UI"/>
                <a:cs typeface="Segoe UI"/>
              </a:rPr>
              <a:t xml:space="preserve">Verify behavior, missing dependencies, and scene reload</a:t>
            </a:r>
            <a:endParaRPr lang="en-US" sz="2250"/>
          </a:p>
        </p:txBody>
      </p:sp>
      <p:sp>
        <p:nvSpPr>
          <p:cNvPr id="12" name="5."/>
          <p:cNvSpPr txBox="1"/>
          <p:nvPr/>
        </p:nvSpPr>
        <p:spPr>
          <a:xfrm>
            <a:off x="762000" y="3931146"/>
            <a:ext cx="323850" cy="504825"/>
          </a:xfrm>
          <a:prstGeom prst="rect">
            <a:avLst/>
          </a:prstGeom>
          <a:noFill/>
          <a:ln>
            <a:noFill/>
          </a:ln>
        </p:spPr>
        <p:txBody>
          <a:bodyPr wrap="square" lIns="0" tIns="0" rIns="0" bIns="0" anchor="t">
            <a:noAutofit/>
          </a:bodyPr>
          <a:lstStyle/>
          <a:p>
            <a:pPr algn="l">
              <a:lnSpc>
                <a:spcPts val="2925"/>
              </a:lnSpc>
              <a:spcBef>
                <a:spcPts val="0"/>
              </a:spcBef>
              <a:spcAft>
                <a:spcPts val="0"/>
              </a:spcAft>
            </a:pPr>
            <a:r>
              <a:rPr lang="en-US" sz="2250" b="1" dirty="0">
                <a:solidFill>
                  <a:srgbClr val="FFBD75"/>
                </a:solidFill>
                <a:latin typeface="Segoe UI"/>
                <a:ea typeface="Segoe UI"/>
                <a:cs typeface="Segoe UI"/>
              </a:rPr>
              <a:t xml:space="preserve">5.</a:t>
            </a:r>
            <a:endParaRPr lang="en-US" sz="2250"/>
          </a:p>
        </p:txBody>
      </p:sp>
      <p:sp>
        <p:nvSpPr>
          <p:cNvPr id="13" name="Reference: Docs/GameFrameworkWalkthrough.md"/>
          <p:cNvSpPr txBox="1"/>
          <p:nvPr/>
        </p:nvSpPr>
        <p:spPr>
          <a:xfrm>
            <a:off x="609600" y="6284118"/>
            <a:ext cx="4447281" cy="326231"/>
          </a:xfrm>
          <a:prstGeom prst="rect">
            <a:avLst/>
          </a:prstGeom>
          <a:noFill/>
          <a:ln>
            <a:noFill/>
          </a:ln>
        </p:spPr>
        <p:txBody>
          <a:bodyPr wrap="square" lIns="0" tIns="0" rIns="0" bIns="0" anchor="t">
            <a:noAutofit/>
          </a:bodyPr>
          <a:lstStyle/>
          <a:p>
            <a:pPr algn="l">
              <a:lnSpc>
                <a:spcPts val="1969"/>
              </a:lnSpc>
              <a:spcBef>
                <a:spcPts val="0"/>
              </a:spcBef>
              <a:spcAft>
                <a:spcPts val="0"/>
              </a:spcAft>
            </a:pPr>
            <a:r>
              <a:rPr lang="en-US" sz="1575" b="0" dirty="0">
                <a:solidFill>
                  <a:srgbClr val="AAB7CB"/>
                </a:solidFill>
                <a:latin typeface="Segoe UI"/>
                <a:ea typeface="Segoe UI"/>
                <a:cs typeface="Segoe UI"/>
              </a:rPr>
              <a:t xml:space="preserve">Reference: Docs/GameFrameworkWalkthrough.md</a:t>
            </a:r>
            <a:endParaRPr lang="en-US" sz="1575"/>
          </a:p>
        </p:txBody>
      </p:sp>
      <p:sp>
        <p:nvSpPr>
          <p:cNvPr id="14" name="15"/>
          <p:cNvSpPr txBox="1"/>
          <p:nvPr/>
        </p:nvSpPr>
        <p:spPr>
          <a:xfrm>
            <a:off x="11407823" y="6324599"/>
            <a:ext cx="174575" cy="285750"/>
          </a:xfrm>
          <a:prstGeom prst="rect">
            <a:avLst/>
          </a:prstGeom>
          <a:noFill/>
          <a:ln>
            <a:noFill/>
          </a:ln>
        </p:spPr>
        <p:txBody>
          <a:bodyPr wrap="square" lIns="0" tIns="0" rIns="0" bIns="0" anchor="t">
            <a:noAutofit/>
          </a:bodyPr>
          <a:lstStyle/>
          <a:p>
            <a:pPr algn="l">
              <a:lnSpc>
                <a:spcPts val="1530"/>
              </a:lnSpc>
              <a:spcBef>
                <a:spcPts val="0"/>
              </a:spcBef>
              <a:spcAft>
                <a:spcPts val="0"/>
              </a:spcAft>
            </a:pPr>
            <a:r>
              <a:rPr lang="en-US" sz="1275" b="0" dirty="0">
                <a:solidFill>
                  <a:srgbClr val="AAB7CB"/>
                </a:solidFill>
                <a:latin typeface="Segoe UI"/>
                <a:ea typeface="Segoe UI"/>
                <a:cs typeface="Segoe UI"/>
              </a:rPr>
              <a:t xml:space="preserve">15</a:t>
            </a:r>
            <a:endParaRPr lang="en-US" sz="1275"/>
          </a:p>
        </p:txBody>
      </p:sp>
    </p:spTree>
  </p:cSld>
  <p:clrMapOvr>
    <a:masterClrMapping/>
  </p:clrMapOvr>
</p:sld>
</file>

<file path=ppt/theme/theme1.xml><?xml version="1.0" encoding="utf-8"?>
<a:theme xmlns:a="http://schemas.openxmlformats.org/drawingml/2006/main" name="GameFramework">
  <a:themeElements>
    <a:clrScheme name="GameFramework">
      <a:dk1>
        <a:srgbClr val="101724"/>
      </a:dk1>
      <a:lt1>
        <a:srgbClr val="F2F4F8"/>
      </a:lt1>
      <a:dk2>
        <a:srgbClr val="152033"/>
      </a:dk2>
      <a:lt2>
        <a:srgbClr val="AAB7CB"/>
      </a:lt2>
      <a:accent1>
        <a:srgbClr val="FFBD75"/>
      </a:accent1>
      <a:accent2>
        <a:srgbClr val="CEE5FF"/>
      </a:accent2>
      <a:accent3>
        <a:srgbClr val="75C8BC"/>
      </a:accent3>
      <a:accent4>
        <a:srgbClr val="BFA6EA"/>
      </a:accent4>
      <a:accent5>
        <a:srgbClr val="DC968B"/>
      </a:accent5>
      <a:accent6>
        <a:srgbClr val="C7CF8A"/>
      </a:accent6>
      <a:hlink>
        <a:srgbClr val="82B5FF"/>
      </a:hlink>
      <a:folHlink>
        <a:srgbClr val="BFA6EA"/>
      </a:folHlink>
    </a:clrScheme>
    <a:fontScheme name="GameFramework">
      <a:majorFont>
        <a:latin typeface="Segoe UI"/>
        <a:ea typeface=""/>
        <a:cs typeface=""/>
      </a:majorFont>
      <a:minorFont>
        <a:latin typeface="Segoe UI"/>
        <a:ea typeface=""/>
        <a:cs typeface=""/>
      </a:minorFont>
    </a:fontScheme>
    <a:fmtScheme name="GameFramework">
      <a:fillStyleLst>
        <a:solidFill>
          <a:schemeClr val="phClr"/>
        </a:solidFill>
        <a:solidFill>
          <a:schemeClr val="phClr"/>
        </a:solidFill>
        <a:solidFill>
          <a:schemeClr val="phClr"/>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GameFramework presentation exporter</Application>
  <PresentationFormat>Widescreen</PresentationFormat>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Implementing gameplay with GameFramework</dc:title>
  <dc:creator>AGP team</dc:creator>
  <dc:description>GameFramework developer walkthrough with editable text and speaker notes. Unreal factory section deferred.</dc:description>
</cp:coreProperties>
</file>